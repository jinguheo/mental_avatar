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문제와 목표" id="{ef2fc86f-9123-6bf8-cc3b-74a7ac78683e}">
          <p14:sldIdLst>
            <p14:sldId id="256"/>
            <p14:sldId id="257"/>
            <p14:sldId id="258"/>
          </p14:sldIdLst>
        </p14:section>
        <p14:section name="선행 연구와 빈틈" id="{48511ced-7ba5-377b-675b-27f358e9a447}">
          <p14:sldIdLst>
            <p14:sldId id="259"/>
            <p14:sldId id="260"/>
          </p14:sldIdLst>
        </p14:section>
        <p14:section name="접근" id="{35538838-b6ac-d083-6ca8-b1449b092b50}">
          <p14:sldIdLst>
            <p14:sldId id="261"/>
            <p14:sldId id="262"/>
            <p14:sldId id="263"/>
          </p14:sldIdLst>
        </p14:section>
        <p14:section name="평가 프로토콜" id="{0fe9a65c-8bf8-3303-c98e-36a1aa28b08a}">
          <p14:sldIdLst>
            <p14:sldId id="264"/>
            <p14:sldId id="265"/>
          </p14:sldIdLst>
        </p14:section>
        <p14:section name="예비 결과" id="{17c8c65c-1a2b-5aed-4e0c-b87fb255f0c4}">
          <p14:sldIdLst>
            <p14:sldId id="266"/>
            <p14:sldId id="267"/>
            <p14:sldId id="268"/>
            <p14:sldId id="269"/>
          </p14:sldIdLst>
        </p14:section>
        <p14:section name="논의와 다음 단계" id="{ec5fbe17-14d6-9a67-8ef3-9f224c2c48eb}">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20 이상</c:v>
                </c:pt>
              </c:strCache>
            </c:strRef>
          </c:tx>
          <c:spPr>
            <a:solidFill>
              <a:srgbClr val="1F4E79"/>
            </a:solidFill>
            <a:effectLst/>
          </c:spPr>
          <c:invertIfNegative val="0"/>
          <c:dLbls>
            <c:numFmt formatCode="0;;;" sourceLinked="0"/>
            <c:txPr>
              <a:bodyPr/>
              <a:lstStyle/>
              <a:p>
                <a:pPr>
                  <a:defRPr b="0" i="0" strike="noStrike" sz="1200" u="none">
                    <a:solidFill>
                      <a:srgbClr val="1F2A37"/>
                    </a:solidFill>
                    <a:latin typeface="+mn-lt"/>
                  </a:defRPr>
                </a:pPr>
              </a:p>
            </c:txPr>
            <c:showLegendKey val="0"/>
            <c:showVal val="1"/>
            <c:showCatName val="0"/>
            <c:showSerName val="0"/>
            <c:showPercent val="0"/>
            <c:showBubbleSize val="0"/>
            <c:showLeaderLines val="0"/>
          </c:dLbls>
          <c:cat>
            <c:multiLvlStrRef>
              <c:f>Sheet1!$A$2:$A$12</c:f>
              <c:multiLvlStrCache>
                <c:ptCount val="11"/>
                <c:lvl>
                  <c:pt idx="0">
                    <c:v>이소룡</c:v>
                  </c:pt>
                  <c:pt idx="1">
                    <c:v>마르쿠스</c:v>
                  </c:pt>
                  <c:pt idx="2">
                    <c:v>파인만</c:v>
                  </c:pt>
                  <c:pt idx="3">
                    <c:v>아인슈타인</c:v>
                  </c:pt>
                  <c:pt idx="4">
                    <c:v>버핏</c:v>
                  </c:pt>
                  <c:pt idx="5">
                    <c:v>잡스</c:v>
                  </c:pt>
                  <c:pt idx="6">
                    <c:v>레오나르도</c:v>
                  </c:pt>
                  <c:pt idx="7">
                    <c:v>송해</c:v>
                  </c:pt>
                  <c:pt idx="8">
                    <c:v>마리 퀴리</c:v>
                  </c:pt>
                  <c:pt idx="9">
                    <c:v>세종*</c:v>
                  </c:pt>
                  <c:pt idx="10">
                    <c:v>이순신</c:v>
                  </c:pt>
                </c:lvl>
              </c:multiLvlStrCache>
            </c:multiLvlStrRef>
          </c:cat>
          <c:val>
            <c:numRef>
              <c:f>Sheet1!$B$2:$B$12</c:f>
              <c:numCache>
                <c:formatCode>General</c:formatCode>
                <c:ptCount val="11"/>
                <c:pt idx="0">
                  <c:v>39</c:v>
                </c:pt>
                <c:pt idx="1">
                  <c:v>33</c:v>
                </c:pt>
                <c:pt idx="2">
                  <c:v>31</c:v>
                </c:pt>
                <c:pt idx="3">
                  <c:v>31</c:v>
                </c:pt>
                <c:pt idx="4">
                  <c:v>30</c:v>
                </c:pt>
                <c:pt idx="5">
                  <c:v>23</c:v>
                </c:pt>
                <c:pt idx="6">
                  <c:v>0</c:v>
                </c:pt>
                <c:pt idx="7">
                  <c:v>0</c:v>
                </c:pt>
                <c:pt idx="8">
                  <c:v>0</c:v>
                </c:pt>
                <c:pt idx="9">
                  <c:v>0</c:v>
                </c:pt>
                <c:pt idx="10">
                  <c:v>0</c:v>
                </c:pt>
              </c:numCache>
            </c:numRef>
          </c:val>
        </c:ser>
        <c:ser>
          <c:idx val="1"/>
          <c:order val="1"/>
          <c:tx>
            <c:strRef>
              <c:f>Sheet1!$C$1</c:f>
              <c:strCache>
                <c:ptCount val="1"/>
                <c:pt idx="0">
                  <c:v>20 미만(자료 부족)</c:v>
                </c:pt>
              </c:strCache>
            </c:strRef>
          </c:tx>
          <c:spPr>
            <a:solidFill>
              <a:srgbClr val="D9A441"/>
            </a:solidFill>
            <a:effectLst/>
          </c:spPr>
          <c:invertIfNegative val="0"/>
          <c:dLbls>
            <c:numFmt formatCode="0;;;" sourceLinked="0"/>
            <c:txPr>
              <a:bodyPr/>
              <a:lstStyle/>
              <a:p>
                <a:pPr>
                  <a:defRPr b="0" i="0" strike="noStrike" sz="1200" u="none">
                    <a:solidFill>
                      <a:srgbClr val="1F2A37"/>
                    </a:solidFill>
                    <a:latin typeface="+mn-lt"/>
                  </a:defRPr>
                </a:pPr>
              </a:p>
            </c:txPr>
            <c:showLegendKey val="0"/>
            <c:showVal val="1"/>
            <c:showCatName val="0"/>
            <c:showSerName val="0"/>
            <c:showPercent val="0"/>
            <c:showBubbleSize val="0"/>
            <c:showLeaderLines val="0"/>
          </c:dLbls>
          <c:cat>
            <c:multiLvlStrRef>
              <c:f>Sheet1!$A$2:$A$12</c:f>
              <c:multiLvlStrCache>
                <c:ptCount val="11"/>
                <c:lvl>
                  <c:pt idx="0">
                    <c:v>이소룡</c:v>
                  </c:pt>
                  <c:pt idx="1">
                    <c:v>마르쿠스</c:v>
                  </c:pt>
                  <c:pt idx="2">
                    <c:v>파인만</c:v>
                  </c:pt>
                  <c:pt idx="3">
                    <c:v>아인슈타인</c:v>
                  </c:pt>
                  <c:pt idx="4">
                    <c:v>버핏</c:v>
                  </c:pt>
                  <c:pt idx="5">
                    <c:v>잡스</c:v>
                  </c:pt>
                  <c:pt idx="6">
                    <c:v>레오나르도</c:v>
                  </c:pt>
                  <c:pt idx="7">
                    <c:v>송해</c:v>
                  </c:pt>
                  <c:pt idx="8">
                    <c:v>마리 퀴리</c:v>
                  </c:pt>
                  <c:pt idx="9">
                    <c:v>세종*</c:v>
                  </c:pt>
                  <c:pt idx="10">
                    <c:v>이순신</c:v>
                  </c:pt>
                </c:lvl>
              </c:multiLvlStrCache>
            </c:multiLvlStrRef>
          </c:cat>
          <c:val>
            <c:numRef>
              <c:f>Sheet1!$C$2:$C$12</c:f>
              <c:numCache>
                <c:formatCode>General</c:formatCode>
                <c:ptCount val="11"/>
                <c:pt idx="0">
                  <c:v>0</c:v>
                </c:pt>
                <c:pt idx="1">
                  <c:v>0</c:v>
                </c:pt>
                <c:pt idx="2">
                  <c:v>0</c:v>
                </c:pt>
                <c:pt idx="3">
                  <c:v>0</c:v>
                </c:pt>
                <c:pt idx="4">
                  <c:v>0</c:v>
                </c:pt>
                <c:pt idx="5">
                  <c:v>0</c:v>
                </c:pt>
                <c:pt idx="6">
                  <c:v>13</c:v>
                </c:pt>
                <c:pt idx="7">
                  <c:v>10</c:v>
                </c:pt>
                <c:pt idx="8">
                  <c:v>9</c:v>
                </c:pt>
                <c:pt idx="9">
                  <c:v>7</c:v>
                </c:pt>
                <c:pt idx="10">
                  <c:v>0</c:v>
                </c:pt>
              </c:numCache>
            </c:numRef>
          </c:val>
        </c:ser>
        <c:dLbls>
          <c:numFmt formatCode="0;;;" sourceLinked="0"/>
          <c:txPr>
            <a:bodyPr/>
            <a:lstStyle/>
            <a:p>
              <a:pPr>
                <a:defRPr b="0" i="0" strike="noStrike" sz="1200" u="none">
                  <a:solidFill>
                    <a:srgbClr val="1F2A37"/>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A37"/>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6350" cap="flat">
              <a:solidFill>
                <a:srgbClr val="DDE3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1F2A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결과 발표가 아니라 연구 설계 발표입니다. 핵심 지표인 “본인 판단과의 일치”는 아직 측정하지 않았고, 그 사실을 처음부터 밝혀 둡니다. 대신 어떻게 만들고 어떻게 잴지, 그리고 지금까지 관찰한 것을 정직하게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연구의 출발점은 “나와 똑같은 아바타”입니다. 하지만 똑같다는 말은 증명할 수 없습니다. 그래서 목표를 측정 가능한 형태로 바꿨습니다. 내가 직접 판단했을 때와 같은 결정을 내리는가, 그리고 시험한 영역에서 내 답과 구별되지 않는가. 지식의 양은 성공 기준이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개인 아바타 프로젝트에서 가장 흔한 착각은 많이 넣었으니 많이 닮았을 것이라는 생각입니다. 이 연구는 세 단어를 엄격히 나눕니다. 기초 지식은 준비도, 연결은 입력이 출력을 실제로 바꾸는지, 일치는 학습에 쓰지 않은 내 판단과 같은 비율입니다. 앞의 두 개는 세 번째를 대신할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대표 연구 다섯 개입니다. Park 외 연구는 1,052명을 인터뷰해 본인 재응답 대비 83~86% 수준까지 갔습니다. 하지만 메타 분석을 보면 질문을 500개 넘게 넣어도 사람 응답과의 상관이 평균 0.2에 그칩니다. PERSONAJUDGE는 “왜 그렇게 판단했는지”를 넣었을 때 가장 크게 좋아진다고 보고했습니다. 이것이 저희 방향의 단서입니다.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빈틈은 네 가지로 요약됩니다. 별표가 붙은 것은 “찾지 못했다”는 주장이라, 체계적 문헌고찰을 거치기 전까지는 가설로 취급합니다. 연구 질문은 일곱 개지만 중심은 RQ2 하나입니다. 판단을 명시 정책으로 포착하면 보류한 내 판단을 더 잘 맞히는가.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기여는 다섯 개입니다. 오른쪽 열을 보시면 C3과 C5, 즉 이 연구의 핵심 두 개가 아직 설계 단계라는 것을 숨기지 않았습니다. 방법론적으로는 소프트웨어 역공학과 닮았습니다. 관찰에서 가설을 세우고, 입력을 바꿔 시험하고, 증거를 남깁니다. 다만 사람에게는 원본 코드가 없으니, 산출물은 “복제”가 아니라 증거와 불확실성이 표시된 판단 정책 모델입니다.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시스템은 다섯 층입니다. 핵심 원칙 두 가지는 이렇습니다. 첫째, 장기 기억 후보는 본인이 쓴 발화뿐이고, 아바타 자신의 답은 내 사실로 학습하지 않습니다. 둘째, 요약은 내가 승인한 구역만 프롬프트에 들어갑니다. 강조된 상자인 판단 정책과 이양은 아직 설계 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판단 워크플로우는 여섯 단계입니다. 핵심은 3번과 5번입니다. LLM이 알아서 판단하는 게 아니라, 내 판단 사례에서 기준과 가중치, 예외를 뽑아 명시 모델로 적용합니다. 그리고 확신이 낮거나 처음 보는 유형이면 판단하지 않고 저에게 넘깁니다. 이 두 단계가 아직 설계 단계입니다. 1970년대 판단 연구에서는 이런 모형이 오히려 본인보다 일관된 결과를 낸다고 보고됐습니다.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평가는 다섯 조건을 같은 모델, 같은 프롬프트 예산에서 비교합니다. 핵심은 B0, 즉 저에 대한 정보가 하나도 없는 일반 LLM 대비 증분입니다. 일반 LLM이 이미 잘 맞히면 제 시스템의 기여라고 말할 수 없습니다. 표본은 최소 100건을 목표로 하고, 시험 사례는 정책을 만들기 전에 먼저 봉인해 누출을 막습니다.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발표 전체의 요점입니다. 판단 대리 아바타는 얼마나 많이 아는지로 평가하면 안 됩니다. 보류해 둔 제 실제 판단을 얼마나 맞히는지, 그리고 모를 때 스스로 넘기는지로 평가해야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얻은 숫자 네 개입니다. 음성 기록에서 오염 발화 324건을 격리했고, 연결 검사에서는 주입한 기준을 따라 선택이 8개 중 6개 바뀌었습니다. 말투는 교정 후 의도한 대로 바뀌었고, 판단 짝은 2,879건을 모았습니다. 하지만 이 넷은 모두 준비도와 연결에 관한 것이고, 일치는 아직 측정하지 못했습니다. 연결 검사는 합성 딜레마 4개, 소형 모델 하나라는 한계가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원칙을 공개 인물 11명에 적용했습니다. 인물마다 같은 질문 78개를 두고, 수집한 원문에서 본인이 답한 문단을 찾았습니다. 못 찾은 질문은 추정으로 채우되 이 숫자에는 넣지 않았습니다. 20개 미만인 다섯 명은 블라인드 평가에서 “자료 부족”으로 빼기로 했습니다. 이 숫자는 정확도가 아니라 커버리지이고, 판정의 정밀도는 아직 사람이 검수하지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가지 실패에서 배운 것이 있습니다. 첫째, 판정 문구 하나를 바꾸자 한 인물의 결과가 0건에서 33건이 됐습니다. 이 수치가 판정 설계에 얼마나 민감한지 보여 줍니다. 둘째, 근거 검색이 너무 엄격하면 누가 봐도 답할 수 있는 일반 질문에도 “모른다”고 합니다. 그래서 분야 전문가 초안과 인물 자료를 합성하고 출처 등급을 표시하는 방식으로 바꿨습니다.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고인이나 역사 인물에게는 일치를 주장하지 않습니다. 대신 “그 사람이 맞다”를 층으로 나눕니다. 가장 먼저 구현한 것은 이름을 가린 식별입니다. 답에서 이름과 호칭을 지우고, 평가자가 후보 중 누구의 답인지 고릅니다. 유명인은 일반 LLM이 이미 알고 있기 때문에, 이름만 준 LLM보다 나은 만큼만 우리 자료의 기여라고 말합니다. 현재는 모델 평가자 사전 점검만 했고 사람 평가는 아직입니다.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스스로 비판해 봤습니다. “나와 똑같은 아바타”는 필요성 근거가 약하고 거부감이 큽니다. 반면 “내 기준으로 1차 판단하고 모르면 넘기는 대리인”은 필요가 분명합니다. 그래서 연구의 중심을 거기로 옮겼습니다. 그리고 대체가 아니라 보조입니다. 말로 할 수 없는 지식은 기록에서 복원하기 어렵기 때문에, 어디까지 재현되는지를 실패 사례로 보여 주는 것 자체를 기여로 삼겠습니다.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분명히 말씀드리겠습니다. 한 명의 사례이고, 연결 검사도 작은 모델 하나로 했습니다. 자기보고는 실제 행동과 다를 수 있습니다. 윤리 측면에서는 항상 AI임을 표시하고 즉시 멈출 수 있게 했고, 메시지 발송이나 결제 같은 외부 행동은 일부러 연결하지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남은 길은 다섯 단계입니다. 앞의 세 개, 범위 동결과 보류 시험셋, 그리고 B0부터 B4까지의 비교가 끝나야 결과를 말할 수 있습니다. 그 전까지는 사전 등록 가능한 연구 설계로 제시하는 것이 정직하다고 판단했습니다. 병행해서 5~10명에게 판단 대리 AI를 쓸 의향을 묻는 필요성 인터뷰를 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판단 대리 아바타는 얼마나 많이 아는지가 아니라 보류한 내 판단을 얼마나 맞히고 모를 때 넘기는지로 평가해야 합니다. 이를 위해 세 용어를 나눠 보고하고, 판단 정책과 이양을 대리의 단위로 삼고, 일반 LLM 대비 증분만을 기여로 말하겠습니다. 특히 평가 설계와 대조군 구성에 대한 의견을 듣고 싶습니다.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65760"/>
          </a:xfrm>
          <a:prstGeom prst="rect">
            <a:avLst/>
          </a:prstGeom>
          <a:noFill/>
          <a:ln/>
        </p:spPr>
        <p:txBody>
          <a:bodyPr wrap="square" rtlCol="0"/>
          <a:lstStyle>
            <a:lvl1pPr indent="0" marL="0">
              <a:buNone/>
              <a:defRPr lang="en-US" sz="1400" b="1" spc="300" kern="0" dirty="0">
                <a:solidFill>
                  <a:schemeClr val="accent4"/>
                </a:solidFill>
              </a:defRPr>
            </a:lvl1pPr>
          </a:lstStyle>
          <a:p>
            <a:pPr indent="0" marL="0">
              <a:buNone/>
            </a:pPr>
            <a:endParaRPr lang="en-US" sz="1400" dirty="0"/>
          </a:p>
        </p:txBody>
      </p:sp>
      <p:sp>
        <p:nvSpPr>
          <p:cNvPr id="3" name="Text 0"/>
          <p:cNvSpPr/>
          <p:nvPr>
            <p:ph idx="101" type="title" hasCustomPrompt="1"/>
          </p:nvPr>
        </p:nvSpPr>
        <p:spPr>
          <a:xfrm>
            <a:off x="548640" y="1828800"/>
            <a:ext cx="105156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703320"/>
            <a:ext cx="10515600" cy="64008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6B7785"/>
                </a:solidFill>
              </a:rPr>
              <a:t>나를 대신해 판단하는 아바타 · 연구 설계 발표</a:t>
            </a:r>
            <a:endParaRPr lang="en-US" sz="10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rtlCol="0"/>
          <a:lstStyle>
            <a:lvl1pPr indent="0" marL="0">
              <a:buNone/>
              <a:defRPr lang="en-US" sz="1200" b="1" spc="200" kern="0" dirty="0">
                <a:solidFill>
                  <a:schemeClr val="accent4"/>
                </a:solidFill>
              </a:defRPr>
            </a:lvl1pPr>
          </a:lstStyle>
          <a:p>
            <a:pPr indent="0" marL="0">
              <a:buNone/>
            </a:pP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rgbClr val="8FA3B8"/>
                </a:solidFill>
              </a:rPr>
              <a:t>나를 대신해 판단하는 아바타 · 연구 설계 발표</a:t>
            </a:r>
            <a:endParaRPr lang="en-US" sz="10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914400" y="1280160"/>
            <a:ext cx="8229600" cy="365760"/>
          </a:xfrm>
          <a:prstGeom prst="rect">
            <a:avLst/>
          </a:prstGeom>
          <a:noFill/>
          <a:ln/>
        </p:spPr>
        <p:txBody>
          <a:bodyPr wrap="square" rtlCol="0"/>
          <a:lstStyle>
            <a:lvl1pPr indent="0" marL="0">
              <a:buNone/>
              <a:defRPr lang="en-US" sz="1400" b="1" spc="300" kern="0" dirty="0">
                <a:solidFill>
                  <a:schemeClr val="tx2"/>
                </a:solidFill>
              </a:defRPr>
            </a:lvl1pPr>
          </a:lstStyle>
          <a:p>
            <a:pPr indent="0" marL="0">
              <a:buNone/>
            </a:pPr>
            <a:endParaRPr lang="en-US" sz="1400" dirty="0"/>
          </a:p>
        </p:txBody>
      </p:sp>
      <p:sp>
        <p:nvSpPr>
          <p:cNvPr id="3" name="Text 0"/>
          <p:cNvSpPr/>
          <p:nvPr>
            <p:ph idx="101" type="title" hasCustomPrompt="1"/>
          </p:nvPr>
        </p:nvSpPr>
        <p:spPr>
          <a:xfrm>
            <a:off x="914400" y="1737360"/>
            <a:ext cx="10332720" cy="29260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4" name="Text 0"/>
          <p:cNvSpPr/>
          <p:nvPr>
            <p:ph idx="102" type="body" hasCustomPrompt="1"/>
          </p:nvPr>
        </p:nvSpPr>
        <p:spPr>
          <a:xfrm>
            <a:off x="914400" y="4800600"/>
            <a:ext cx="10332720" cy="54864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65760"/>
          </a:xfrm>
          <a:prstGeom prst="rect">
            <a:avLst/>
          </a:prstGeom>
          <a:noFill/>
          <a:ln/>
        </p:spPr>
        <p:txBody>
          <a:bodyPr wrap="square" lIns="0" tIns="0" rIns="0" bIns="0" rtlCol="0"/>
          <a:lstStyle/>
          <a:p>
            <a:pPr indent="0" marL="0">
              <a:buNone/>
            </a:pPr>
            <a:r>
              <a:rPr lang="en-US" sz="1400" b="1" spc="300" kern="0" dirty="0">
                <a:solidFill>
                  <a:schemeClr val="accent4"/>
                </a:solidFill>
              </a:rPr>
              <a:t>연구 발표 · 2026-10-19</a:t>
            </a:r>
            <a:endParaRPr lang="en-US" sz="1400" dirty="0"/>
          </a:p>
        </p:txBody>
      </p:sp>
      <p:sp>
        <p:nvSpPr>
          <p:cNvPr id="3" name="Text 0"/>
          <p:cNvSpPr/>
          <p:nvPr>
            <p:ph idx="101" type="title" hasCustomPrompt="1"/>
          </p:nvPr>
        </p:nvSpPr>
        <p:spPr>
          <a:xfrm>
            <a:off x="548640" y="1828800"/>
            <a:ext cx="10515600" cy="1737360"/>
          </a:xfrm>
          <a:prstGeom prst="rect">
            <a:avLst/>
          </a:prstGeom>
          <a:noFill/>
          <a:ln/>
        </p:spPr>
        <p:txBody>
          <a:bodyPr wrap="square" lIns="0" tIns="0" rIns="0" bIns="0" rtlCol="0" anchor="b"/>
          <a:lstStyle/>
          <a:p>
            <a:pPr algn="l" indent="0" marL="0">
              <a:buNone/>
            </a:pPr>
            <a:r>
              <a:rPr lang="en-US" sz="4400" b="1" dirty="0">
                <a:solidFill>
                  <a:schemeClr val="bg1"/>
                </a:solidFill>
              </a:rPr>
              <a:t>나를 대신해 판단하는 아바타</a:t>
            </a:r>
            <a:endParaRPr lang="en-US" sz="4400" dirty="0"/>
          </a:p>
        </p:txBody>
      </p:sp>
      <p:sp>
        <p:nvSpPr>
          <p:cNvPr id="5" name="Text 0"/>
          <p:cNvSpPr/>
          <p:nvPr>
            <p:ph idx="102" type="body" hasCustomPrompt="1"/>
          </p:nvPr>
        </p:nvSpPr>
        <p:spPr>
          <a:xfrm>
            <a:off x="548640" y="3703320"/>
            <a:ext cx="10515600" cy="640080"/>
          </a:xfrm>
          <a:prstGeom prst="rect">
            <a:avLst/>
          </a:prstGeom>
          <a:noFill/>
          <a:ln/>
        </p:spPr>
        <p:txBody>
          <a:bodyPr wrap="square" lIns="0" tIns="0" rIns="0" bIns="0" rtlCol="0"/>
          <a:lstStyle/>
          <a:p>
            <a:pPr indent="0" marL="0">
              <a:buNone/>
            </a:pPr>
            <a:r>
              <a:rPr lang="en-US" sz="2200" dirty="0">
                <a:solidFill>
                  <a:schemeClr val="bg2"/>
                </a:solidFill>
              </a:rPr>
              <a:t>일치(sync)를 어떻게 만들고, 어떻게 잴 것인가</a:t>
            </a:r>
            <a:endParaRPr lang="en-US" sz="2200" dirty="0"/>
          </a:p>
        </p:txBody>
      </p:sp>
      <p:sp>
        <p:nvSpPr>
          <p:cNvPr id="6" name="Text 3"/>
          <p:cNvSpPr txBox="1"/>
          <p:nvPr/>
        </p:nvSpPr>
        <p:spPr>
          <a:xfrm>
            <a:off x="548640" y="5257800"/>
            <a:ext cx="5943600" cy="731520"/>
          </a:xfrm>
          <a:prstGeom prst="rect">
            <a:avLst/>
          </a:prstGeom>
          <a:noFill/>
          <a:ln/>
        </p:spPr>
        <p:txBody>
          <a:bodyPr wrap="square" lIns="0" tIns="0" rIns="0" bIns="0" rtlCol="0" anchor="b"/>
          <a:lstStyle/>
          <a:p>
            <a:pPr indent="0" marL="0">
              <a:buNone/>
            </a:pPr>
            <a:r>
              <a:rPr lang="en-US" sz="1800" b="1" dirty="0">
                <a:solidFill>
                  <a:schemeClr val="bg1"/>
                </a:solidFill>
              </a:rPr>
              <a:t>허진구 (Jingu Heo)</a:t>
            </a:r>
            <a:endParaRPr lang="en-US" sz="1800" dirty="0"/>
          </a:p>
          <a:p>
            <a:pPr indent="0" marL="0">
              <a:buNone/>
            </a:pPr>
            <a:r>
              <a:rPr lang="en-US" sz="1400" dirty="0">
                <a:solidFill>
                  <a:srgbClr val="A9BBCC"/>
                </a:solidFill>
              </a:rPr>
              <a:t>독립 연구 · Mental Avatar 프로젝트</a:t>
            </a:r>
            <a:endParaRPr lang="en-US" sz="1800" dirty="0"/>
          </a:p>
        </p:txBody>
      </p:sp>
      <p:sp>
        <p:nvSpPr>
          <p:cNvPr id="7" name="status pill"/>
          <p:cNvSpPr/>
          <p:nvPr/>
        </p:nvSpPr>
        <p:spPr>
          <a:xfrm>
            <a:off x="7178040" y="5486400"/>
            <a:ext cx="4462272" cy="502920"/>
          </a:xfrm>
          <a:prstGeom prst="roundRect">
            <a:avLst>
              <a:gd name="adj" fmla="val 49091"/>
            </a:avLst>
          </a:prstGeom>
          <a:solidFill>
            <a:schemeClr val="accent4"/>
          </a:solidFill>
          <a:ln w="12700">
            <a:solidFill>
              <a:schemeClr val="accent4"/>
            </a:solidFill>
            <a:prstDash val="solid"/>
          </a:ln>
        </p:spPr>
      </p:sp>
      <p:sp>
        <p:nvSpPr>
          <p:cNvPr id="8" name="Text 5"/>
          <p:cNvSpPr txBox="1"/>
          <p:nvPr/>
        </p:nvSpPr>
        <p:spPr>
          <a:xfrm>
            <a:off x="7178040" y="5486400"/>
            <a:ext cx="4462272" cy="502920"/>
          </a:xfrm>
          <a:prstGeom prst="rect">
            <a:avLst/>
          </a:prstGeom>
          <a:noFill/>
          <a:ln/>
        </p:spPr>
        <p:txBody>
          <a:bodyPr wrap="square" lIns="0" tIns="0" rIns="0" bIns="0" rtlCol="0" anchor="ctr"/>
          <a:lstStyle/>
          <a:p>
            <a:pPr algn="ctr" indent="0" marL="0">
              <a:buNone/>
            </a:pPr>
            <a:r>
              <a:rPr lang="en-US" sz="1400" b="1" dirty="0">
                <a:solidFill>
                  <a:schemeClr val="tx2"/>
                </a:solidFill>
              </a:rPr>
              <a:t>연구 설계 + 예비 관찰 · 일치는 아직 측정 전</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1 · 문제와 목표</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내가 없어도, 내 기준으로 판단한다</a:t>
            </a:r>
            <a:endParaRPr lang="en-US" sz="3000" dirty="0"/>
          </a:p>
        </p:txBody>
      </p:sp>
      <p:sp>
        <p:nvSpPr>
          <p:cNvPr id="5" name="card 목표"/>
          <p:cNvSpPr/>
          <p:nvPr/>
        </p:nvSpPr>
        <p:spPr>
          <a:xfrm>
            <a:off x="548640" y="1691640"/>
            <a:ext cx="5394960" cy="2468880"/>
          </a:xfrm>
          <a:prstGeom prst="roundRect">
            <a:avLst>
              <a:gd name="adj" fmla="val 2963"/>
            </a:avLst>
          </a:prstGeom>
          <a:solidFill>
            <a:schemeClr val="bg2"/>
          </a:solidFill>
          <a:ln w="12700">
            <a:solidFill>
              <a:schemeClr val="bg2"/>
            </a:solidFill>
            <a:prstDash val="solid"/>
          </a:ln>
        </p:spPr>
      </p:sp>
      <p:sp>
        <p:nvSpPr>
          <p:cNvPr id="6" name="Text 3"/>
          <p:cNvSpPr txBox="1"/>
          <p:nvPr/>
        </p:nvSpPr>
        <p:spPr>
          <a:xfrm>
            <a:off x="777240" y="1892808"/>
            <a:ext cx="4937760" cy="411480"/>
          </a:xfrm>
          <a:prstGeom prst="rect">
            <a:avLst/>
          </a:prstGeom>
          <a:noFill/>
          <a:ln/>
        </p:spPr>
        <p:txBody>
          <a:bodyPr wrap="square" lIns="0" tIns="0" rIns="0" bIns="0" rtlCol="0" anchor="t"/>
          <a:lstStyle/>
          <a:p>
            <a:pPr indent="0" marL="0">
              <a:buNone/>
            </a:pPr>
            <a:r>
              <a:rPr lang="en-US" sz="1800" b="1" dirty="0">
                <a:solidFill>
                  <a:schemeClr val="tx2"/>
                </a:solidFill>
              </a:rPr>
              <a:t>목표</a:t>
            </a:r>
            <a:endParaRPr lang="en-US" sz="1800" dirty="0"/>
          </a:p>
        </p:txBody>
      </p:sp>
      <p:sp>
        <p:nvSpPr>
          <p:cNvPr id="7" name="Text 4"/>
          <p:cNvSpPr txBox="1"/>
          <p:nvPr/>
        </p:nvSpPr>
        <p:spPr>
          <a:xfrm>
            <a:off x="777240" y="2377440"/>
            <a:ext cx="4937760" cy="1600200"/>
          </a:xfrm>
          <a:prstGeom prst="rect">
            <a:avLst/>
          </a:prstGeom>
          <a:noFill/>
          <a:ln/>
        </p:spPr>
        <p:txBody>
          <a:bodyPr wrap="square" lIns="0" tIns="0" rIns="0" bIns="0" rtlCol="0" anchor="t"/>
          <a:lstStyle/>
          <a:p>
            <a:pPr indent="0" marL="0">
              <a:lnSpc>
                <a:spcPct val="115000"/>
              </a:lnSpc>
              <a:buNone/>
            </a:pPr>
            <a:r>
              <a:rPr lang="en-US" sz="1700" dirty="0">
                <a:solidFill>
                  <a:schemeClr val="tx1"/>
                </a:solidFill>
              </a:rPr>
              <a:t>일반·업무 상황의 결정을 내 생각·가치·윤리 기준으로 내리고, 결론을 내 얼굴과 목소리로 전달하는 아바타</a:t>
            </a:r>
            <a:endParaRPr lang="en-US" sz="1700" dirty="0"/>
          </a:p>
        </p:txBody>
      </p:sp>
      <p:sp>
        <p:nvSpPr>
          <p:cNvPr id="8" name="card 성공 기준"/>
          <p:cNvSpPr/>
          <p:nvPr/>
        </p:nvSpPr>
        <p:spPr>
          <a:xfrm>
            <a:off x="6245352" y="1691640"/>
            <a:ext cx="5394960" cy="2468880"/>
          </a:xfrm>
          <a:prstGeom prst="roundRect">
            <a:avLst>
              <a:gd name="adj" fmla="val 2963"/>
            </a:avLst>
          </a:prstGeom>
          <a:solidFill>
            <a:schemeClr val="tx2"/>
          </a:solidFill>
          <a:ln w="12700">
            <a:solidFill>
              <a:schemeClr val="tx2"/>
            </a:solidFill>
            <a:prstDash val="solid"/>
          </a:ln>
        </p:spPr>
      </p:sp>
      <p:sp>
        <p:nvSpPr>
          <p:cNvPr id="9" name="Text 6"/>
          <p:cNvSpPr txBox="1"/>
          <p:nvPr/>
        </p:nvSpPr>
        <p:spPr>
          <a:xfrm>
            <a:off x="6473952" y="1892808"/>
            <a:ext cx="4937760" cy="411480"/>
          </a:xfrm>
          <a:prstGeom prst="rect">
            <a:avLst/>
          </a:prstGeom>
          <a:noFill/>
          <a:ln/>
        </p:spPr>
        <p:txBody>
          <a:bodyPr wrap="square" lIns="0" tIns="0" rIns="0" bIns="0" rtlCol="0" anchor="t"/>
          <a:lstStyle/>
          <a:p>
            <a:pPr indent="0" marL="0">
              <a:buNone/>
            </a:pPr>
            <a:r>
              <a:rPr lang="en-US" sz="1800" b="1" dirty="0">
                <a:solidFill>
                  <a:schemeClr val="accent4"/>
                </a:solidFill>
              </a:rPr>
              <a:t>성공 기준</a:t>
            </a:r>
            <a:endParaRPr lang="en-US" sz="1800" dirty="0"/>
          </a:p>
        </p:txBody>
      </p:sp>
      <p:sp>
        <p:nvSpPr>
          <p:cNvPr id="10" name="Text 7"/>
          <p:cNvSpPr txBox="1"/>
          <p:nvPr/>
        </p:nvSpPr>
        <p:spPr>
          <a:xfrm>
            <a:off x="6473952" y="2377440"/>
            <a:ext cx="4937760" cy="1600200"/>
          </a:xfrm>
          <a:prstGeom prst="rect">
            <a:avLst/>
          </a:prstGeom>
          <a:noFill/>
          <a:ln/>
        </p:spPr>
        <p:txBody>
          <a:bodyPr wrap="square" lIns="0" tIns="0" rIns="0" bIns="0" rtlCol="0" anchor="t"/>
          <a:lstStyle/>
          <a:p>
            <a:pPr indent="0" marL="0">
              <a:lnSpc>
                <a:spcPct val="115000"/>
              </a:lnSpc>
              <a:buNone/>
            </a:pPr>
            <a:r>
              <a:rPr lang="en-US" sz="1700" dirty="0">
                <a:solidFill>
                  <a:schemeClr val="bg1"/>
                </a:solidFill>
              </a:rPr>
              <a:t>“지식이 많다”가 아니라</a:t>
            </a:r>
            <a:endParaRPr lang="en-US" sz="1700" dirty="0"/>
          </a:p>
          <a:p>
            <a:pPr indent="0" marL="0">
              <a:lnSpc>
                <a:spcPct val="115000"/>
              </a:lnSpc>
              <a:buNone/>
            </a:pPr>
            <a:r>
              <a:rPr lang="en-US" sz="1700" dirty="0">
                <a:solidFill>
                  <a:schemeClr val="bg1"/>
                </a:solidFill>
              </a:rPr>
              <a:t>내가 직접 판단했을 때와 같은 결정을 내리는가</a:t>
            </a:r>
            <a:endParaRPr lang="en-US" sz="1700" dirty="0"/>
          </a:p>
        </p:txBody>
      </p:sp>
      <p:sp>
        <p:nvSpPr>
          <p:cNvPr id="11" name="Text 8"/>
          <p:cNvSpPr txBox="1"/>
          <p:nvPr/>
        </p:nvSpPr>
        <p:spPr>
          <a:xfrm>
            <a:off x="548640" y="4526280"/>
            <a:ext cx="11091672" cy="914400"/>
          </a:xfrm>
          <a:prstGeom prst="rect">
            <a:avLst/>
          </a:prstGeom>
          <a:noFill/>
          <a:ln/>
        </p:spPr>
        <p:txBody>
          <a:bodyPr wrap="square" lIns="0" tIns="0" rIns="0" bIns="0" rtlCol="0" anchor="t"/>
          <a:lstStyle/>
          <a:p>
            <a:pPr indent="0" marL="0">
              <a:lnSpc>
                <a:spcPct val="120000"/>
              </a:lnSpc>
              <a:buNone/>
            </a:pPr>
            <a:r>
              <a:rPr lang="en-US" sz="1700" dirty="0">
                <a:solidFill>
                  <a:schemeClr val="tx1"/>
                </a:solidFill>
              </a:rPr>
              <a:t>“나와 똑같다”는 증명할 수 없으므로(동일성이 아니라 연속성의 정도, Parfit) 목표를 </a:t>
            </a:r>
            <a:pPr indent="0" marL="0">
              <a:lnSpc>
                <a:spcPct val="120000"/>
              </a:lnSpc>
              <a:buNone/>
            </a:pPr>
            <a:r>
              <a:rPr lang="en-US" sz="1700" b="1" dirty="0">
                <a:solidFill>
                  <a:schemeClr val="tx2"/>
                </a:solidFill>
              </a:rPr>
              <a:t>시험한 영역에서 내 답과 구별되지 않는 정도</a:t>
            </a:r>
            <a:pPr indent="0" marL="0">
              <a:lnSpc>
                <a:spcPct val="120000"/>
              </a:lnSpc>
              <a:buNone/>
            </a:pPr>
            <a:r>
              <a:rPr lang="en-US" sz="1700" dirty="0">
                <a:solidFill>
                  <a:schemeClr val="tx1"/>
                </a:solidFill>
              </a:rPr>
              <a:t>로 정의한다.</a:t>
            </a:r>
            <a:endParaRPr lang="en-US" sz="17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1 · 용어</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입력량은 일치가 아니다</a:t>
            </a:r>
            <a:endParaRPr lang="en-US" sz="3000" dirty="0"/>
          </a:p>
        </p:txBody>
      </p:sp>
      <p:sp>
        <p:nvSpPr>
          <p:cNvPr id="5" name="card 기초 지식"/>
          <p:cNvSpPr/>
          <p:nvPr/>
        </p:nvSpPr>
        <p:spPr>
          <a:xfrm>
            <a:off x="548640" y="1691640"/>
            <a:ext cx="3520440" cy="2651760"/>
          </a:xfrm>
          <a:prstGeom prst="roundRect">
            <a:avLst>
              <a:gd name="adj" fmla="val 2759"/>
            </a:avLst>
          </a:prstGeom>
          <a:solidFill>
            <a:schemeClr val="bg2"/>
          </a:solidFill>
          <a:ln w="12700">
            <a:solidFill>
              <a:schemeClr val="bg2"/>
            </a:solidFill>
            <a:prstDash val="solid"/>
          </a:ln>
        </p:spPr>
      </p:sp>
      <p:sp>
        <p:nvSpPr>
          <p:cNvPr id="6" name="Text 3"/>
          <p:cNvSpPr txBox="1"/>
          <p:nvPr/>
        </p:nvSpPr>
        <p:spPr>
          <a:xfrm>
            <a:off x="777240" y="1892808"/>
            <a:ext cx="3063240" cy="411480"/>
          </a:xfrm>
          <a:prstGeom prst="rect">
            <a:avLst/>
          </a:prstGeom>
          <a:noFill/>
          <a:ln/>
        </p:spPr>
        <p:txBody>
          <a:bodyPr wrap="square" lIns="0" tIns="0" rIns="0" bIns="0" rtlCol="0" anchor="t"/>
          <a:lstStyle/>
          <a:p>
            <a:pPr indent="0" marL="0">
              <a:buNone/>
            </a:pPr>
            <a:r>
              <a:rPr lang="en-US" sz="2200" b="1" dirty="0">
                <a:solidFill>
                  <a:schemeClr val="tx2"/>
                </a:solidFill>
              </a:rPr>
              <a:t>기초 지식</a:t>
            </a:r>
            <a:endParaRPr lang="en-US" sz="2200" dirty="0"/>
          </a:p>
        </p:txBody>
      </p:sp>
      <p:sp>
        <p:nvSpPr>
          <p:cNvPr id="7" name="Text 4"/>
          <p:cNvSpPr txBox="1"/>
          <p:nvPr/>
        </p:nvSpPr>
        <p:spPr>
          <a:xfrm>
            <a:off x="777240" y="2377440"/>
            <a:ext cx="3063240" cy="17830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넣은 사실·기준의 양과 질. 지식 그래프 크기, 설정 완성도는 모두 준비도다.</a:t>
            </a:r>
            <a:endParaRPr lang="en-US" sz="1600" dirty="0"/>
          </a:p>
        </p:txBody>
      </p:sp>
      <p:sp>
        <p:nvSpPr>
          <p:cNvPr id="8" name="card 연결"/>
          <p:cNvSpPr/>
          <p:nvPr/>
        </p:nvSpPr>
        <p:spPr>
          <a:xfrm>
            <a:off x="4336999" y="1691640"/>
            <a:ext cx="3520440" cy="2651760"/>
          </a:xfrm>
          <a:prstGeom prst="roundRect">
            <a:avLst>
              <a:gd name="adj" fmla="val 2759"/>
            </a:avLst>
          </a:prstGeom>
          <a:solidFill>
            <a:schemeClr val="bg2"/>
          </a:solidFill>
          <a:ln w="12700">
            <a:solidFill>
              <a:schemeClr val="bg2"/>
            </a:solidFill>
            <a:prstDash val="solid"/>
          </a:ln>
        </p:spPr>
      </p:sp>
      <p:sp>
        <p:nvSpPr>
          <p:cNvPr id="9" name="Text 6"/>
          <p:cNvSpPr txBox="1"/>
          <p:nvPr/>
        </p:nvSpPr>
        <p:spPr>
          <a:xfrm>
            <a:off x="4565599" y="1892808"/>
            <a:ext cx="3063240" cy="411480"/>
          </a:xfrm>
          <a:prstGeom prst="rect">
            <a:avLst/>
          </a:prstGeom>
          <a:noFill/>
          <a:ln/>
        </p:spPr>
        <p:txBody>
          <a:bodyPr wrap="square" lIns="0" tIns="0" rIns="0" bIns="0" rtlCol="0" anchor="t"/>
          <a:lstStyle/>
          <a:p>
            <a:pPr indent="0" marL="0">
              <a:buNone/>
            </a:pPr>
            <a:r>
              <a:rPr lang="en-US" sz="2200" b="1" dirty="0">
                <a:solidFill>
                  <a:schemeClr val="tx2"/>
                </a:solidFill>
              </a:rPr>
              <a:t>연결</a:t>
            </a:r>
            <a:endParaRPr lang="en-US" sz="2200" dirty="0"/>
          </a:p>
        </p:txBody>
      </p:sp>
      <p:sp>
        <p:nvSpPr>
          <p:cNvPr id="10" name="Text 7"/>
          <p:cNvSpPr txBox="1"/>
          <p:nvPr/>
        </p:nvSpPr>
        <p:spPr>
          <a:xfrm>
            <a:off x="4565599" y="2377440"/>
            <a:ext cx="3063240" cy="17830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넣은 입력이 실제로 출력을 바꾸는가. 가상 기준을 주입해 선택이 따라 바뀌는지 잰다.</a:t>
            </a:r>
            <a:endParaRPr lang="en-US" sz="1600" dirty="0"/>
          </a:p>
        </p:txBody>
      </p:sp>
      <p:sp>
        <p:nvSpPr>
          <p:cNvPr id="11" name="card 일치 (sync)"/>
          <p:cNvSpPr/>
          <p:nvPr/>
        </p:nvSpPr>
        <p:spPr>
          <a:xfrm>
            <a:off x="8125358" y="1691640"/>
            <a:ext cx="3520440" cy="2651760"/>
          </a:xfrm>
          <a:prstGeom prst="roundRect">
            <a:avLst>
              <a:gd name="adj" fmla="val 2759"/>
            </a:avLst>
          </a:prstGeom>
          <a:solidFill>
            <a:srgbClr val="FBF0D9"/>
          </a:solidFill>
          <a:ln w="19050">
            <a:solidFill>
              <a:schemeClr val="accent1"/>
            </a:solidFill>
            <a:prstDash val="solid"/>
          </a:ln>
        </p:spPr>
      </p:sp>
      <p:sp>
        <p:nvSpPr>
          <p:cNvPr id="12" name="Text 9"/>
          <p:cNvSpPr txBox="1"/>
          <p:nvPr/>
        </p:nvSpPr>
        <p:spPr>
          <a:xfrm>
            <a:off x="8353958" y="1892808"/>
            <a:ext cx="3063240" cy="411480"/>
          </a:xfrm>
          <a:prstGeom prst="rect">
            <a:avLst/>
          </a:prstGeom>
          <a:noFill/>
          <a:ln/>
        </p:spPr>
        <p:txBody>
          <a:bodyPr wrap="square" lIns="0" tIns="0" rIns="0" bIns="0" rtlCol="0" anchor="t"/>
          <a:lstStyle/>
          <a:p>
            <a:pPr indent="0" marL="0">
              <a:buNone/>
            </a:pPr>
            <a:r>
              <a:rPr lang="en-US" sz="2200" b="1" dirty="0">
                <a:solidFill>
                  <a:schemeClr val="tx2"/>
                </a:solidFill>
              </a:rPr>
              <a:t>일치 (sync)</a:t>
            </a:r>
            <a:endParaRPr lang="en-US" sz="2200" dirty="0"/>
          </a:p>
        </p:txBody>
      </p:sp>
      <p:sp>
        <p:nvSpPr>
          <p:cNvPr id="13" name="Text 10"/>
          <p:cNvSpPr txBox="1"/>
          <p:nvPr/>
        </p:nvSpPr>
        <p:spPr>
          <a:xfrm>
            <a:off x="8353958" y="2377440"/>
            <a:ext cx="3063240" cy="178308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학습에 쓰지 않은 내 실제 판단과 아바타 판단이 같은 비율. 이 정의로만 말한다.</a:t>
            </a:r>
            <a:endParaRPr lang="en-US" sz="1600" dirty="0"/>
          </a:p>
        </p:txBody>
      </p:sp>
      <p:sp>
        <p:nvSpPr>
          <p:cNvPr id="14" name="Text 11"/>
          <p:cNvSpPr txBox="1"/>
          <p:nvPr/>
        </p:nvSpPr>
        <p:spPr>
          <a:xfrm>
            <a:off x="548640" y="4709160"/>
            <a:ext cx="11091672" cy="731520"/>
          </a:xfrm>
          <a:prstGeom prst="rect">
            <a:avLst/>
          </a:prstGeom>
          <a:noFill/>
          <a:ln/>
        </p:spPr>
        <p:txBody>
          <a:bodyPr wrap="square" lIns="0" tIns="0" rIns="0" bIns="0" rtlCol="0" anchor="t"/>
          <a:lstStyle/>
          <a:p>
            <a:pPr indent="0" marL="0">
              <a:lnSpc>
                <a:spcPct val="120000"/>
              </a:lnSpc>
              <a:buNone/>
            </a:pPr>
            <a:r>
              <a:rPr lang="en-US" sz="1700" dirty="0">
                <a:solidFill>
                  <a:schemeClr val="tx1"/>
                </a:solidFill>
              </a:rPr>
              <a:t>보고 원칙: 준비도 퍼센트를 일치라고 부르지 않는다. 일치는 지표별로 “측정 가능 / 불가”를 따로 표시한다.</a:t>
            </a:r>
            <a:endParaRPr lang="en-US" sz="17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2 · 선행 연구</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디지털 트윈은 평균은 맞히지만 개인은 약하다</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926080"/>
                <a:gridCol w="4325112"/>
                <a:gridCol w="3840480"/>
              </a:tblGrid>
              <a:tr h="0">
                <a:tc>
                  <a:txBody>
                    <a:bodyPr/>
                    <a:lstStyle/>
                    <a:p>
                      <a:pPr indent="0" marL="0">
                        <a:buNone/>
                      </a:pPr>
                      <a:r>
                        <a:rPr lang="en-US" sz="1500" b="1" dirty="0">
                          <a:solidFill>
                            <a:schemeClr val="tx2"/>
                          </a:solidFill>
                        </a:rPr>
                        <a:t>연구</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입력·평가</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보고된 결과</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r>
              <a:tr h="0">
                <a:tc>
                  <a:txBody>
                    <a:bodyPr/>
                    <a:lstStyle/>
                    <a:p>
                      <a:pPr indent="0" marL="0">
                        <a:buNone/>
                      </a:pPr>
                      <a:r>
                        <a:rPr lang="en-US" sz="1500" dirty="0">
                          <a:solidFill>
                            <a:schemeClr val="tx1"/>
                          </a:solidFill>
                        </a:rPr>
                        <a:t>Park 외 2024</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1,052명 2시간 인터뷰 · 보류 설문 문항</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본인 재응답 대비 83~86% (정규화)</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IMPersona 2025</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개인 메시지 + 파인튜닝 · 지인 블라인드 대화</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44% 사람으로 판정 (프롬프트만 25%)</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Individual Turing Test 2026</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10년 치 메시지 · 지인 vs 낯선 사람</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지인 심판이면 통과 못 함</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Funhouse Mirrors 2025</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사전등록 19개 연구 메타 분석</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트윈–사람 상관 평균 r = 0.20</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PERSONAJUDGE 2026</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평가자 32명 · 판단 4,200건</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판단 이유 기록이 최대 +9.9%p</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160520"/>
            <a:ext cx="11091672" cy="64008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흐름은 “사람처럼 보이는가”에서 “개인을 맞히는가”로 옮겨 가고 있지만, 개인 수준 결과는 아직 제한적이다.</a:t>
            </a:r>
            <a:endParaRPr lang="en-US" sz="1600" dirty="0"/>
          </a:p>
        </p:txBody>
      </p:sp>
      <p:sp>
        <p:nvSpPr>
          <p:cNvPr id="7" name="Text 3"/>
          <p:cNvSpPr txBox="1"/>
          <p:nvPr/>
        </p:nvSpPr>
        <p:spPr>
          <a:xfrm>
            <a:off x="548640" y="4800600"/>
            <a:ext cx="11091672" cy="274320"/>
          </a:xfrm>
          <a:prstGeom prst="rect">
            <a:avLst/>
          </a:prstGeom>
          <a:noFill/>
          <a:ln/>
        </p:spPr>
        <p:txBody>
          <a:bodyPr wrap="square" lIns="0" tIns="0" rIns="0" bIns="0" rtlCol="0" anchor="ctr"/>
          <a:lstStyle/>
          <a:p>
            <a:pPr indent="0" marL="0">
              <a:buNone/>
            </a:pPr>
            <a:r>
              <a:rPr lang="en-US" sz="1100" dirty="0">
                <a:solidFill>
                  <a:srgbClr val="6B7785"/>
                </a:solidFill>
              </a:rPr>
              <a:t>수치는 각 논문이 보고한 값(본인 재응답 대비 등 각자의 기준)</a:t>
            </a:r>
            <a:endParaRPr lang="en-US" sz="11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2 · 빈틈과 연구 질문</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아무도 “판단 정책”을 모델링하지 않았다</a:t>
            </a:r>
            <a:endParaRPr lang="en-US" sz="3000" dirty="0"/>
          </a:p>
        </p:txBody>
      </p:sp>
      <p:sp>
        <p:nvSpPr>
          <p:cNvPr id="5" name="Text 2"/>
          <p:cNvSpPr txBox="1"/>
          <p:nvPr/>
        </p:nvSpPr>
        <p:spPr>
          <a:xfrm>
            <a:off x="548640" y="1691640"/>
            <a:ext cx="5394960" cy="411480"/>
          </a:xfrm>
          <a:prstGeom prst="rect">
            <a:avLst/>
          </a:prstGeom>
          <a:noFill/>
          <a:ln/>
        </p:spPr>
        <p:txBody>
          <a:bodyPr wrap="square" lIns="0" tIns="0" rIns="0" bIns="0" rtlCol="0" anchor="ctr"/>
          <a:lstStyle/>
          <a:p>
            <a:pPr indent="0" marL="0">
              <a:buNone/>
            </a:pPr>
            <a:r>
              <a:rPr lang="en-US" sz="2000" b="1" dirty="0">
                <a:solidFill>
                  <a:schemeClr val="tx2"/>
                </a:solidFill>
              </a:rPr>
              <a:t>찾은 빈틈</a:t>
            </a:r>
            <a:endParaRPr lang="en-US" sz="2000" dirty="0"/>
          </a:p>
        </p:txBody>
      </p:sp>
      <p:sp>
        <p:nvSpPr>
          <p:cNvPr id="6" name="Text 3"/>
          <p:cNvSpPr txBox="1"/>
          <p:nvPr/>
        </p:nvSpPr>
        <p:spPr>
          <a:xfrm>
            <a:off x="548640" y="2194560"/>
            <a:ext cx="539496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입력이 사실·말투·설문 응답 중심이다</a:t>
            </a:r>
            <a:endParaRPr lang="en-US" sz="1600" dirty="0"/>
          </a:p>
          <a:p>
            <a:pPr marL="342900" indent="-342900">
              <a:spcAft>
                <a:spcPts val="1000"/>
              </a:spcAft>
              <a:buSzPct val="100000"/>
              <a:buChar char="•"/>
            </a:pPr>
            <a:r>
              <a:rPr lang="en-US" sz="1600" dirty="0">
                <a:solidFill>
                  <a:schemeClr val="tx1"/>
                </a:solidFill>
              </a:rPr>
              <a:t>기준·가중치·예외·이양을 명시 정책으로 만들어 보류 사례로 평가한 연구가 없다*</a:t>
            </a:r>
            <a:endParaRPr lang="en-US" sz="1600" dirty="0"/>
          </a:p>
          <a:p>
            <a:pPr marL="342900" indent="-342900">
              <a:spcAft>
                <a:spcPts val="1000"/>
              </a:spcAft>
              <a:buSzPct val="100000"/>
              <a:buChar char="•"/>
            </a:pPr>
            <a:r>
              <a:rPr lang="en-US" sz="1600" dirty="0">
                <a:solidFill>
                  <a:schemeClr val="tx1"/>
                </a:solidFill>
              </a:rPr>
              <a:t>넣은 정보가 출력을 바꾸는지 개입 실험이 없다*</a:t>
            </a:r>
            <a:endParaRPr lang="en-US" sz="1600" dirty="0"/>
          </a:p>
          <a:p>
            <a:pPr marL="342900" indent="-342900">
              <a:spcAft>
                <a:spcPts val="1000"/>
              </a:spcAft>
              <a:buSzPct val="100000"/>
              <a:buChar char="•"/>
            </a:pPr>
            <a:r>
              <a:rPr lang="en-US" sz="1600" dirty="0">
                <a:solidFill>
                  <a:schemeClr val="tx1"/>
                </a:solidFill>
              </a:rPr>
              <a:t>개인 음성 기록의 환각·에코 오염을 정량 보고한 연구가 없다*</a:t>
            </a:r>
            <a:endParaRPr lang="en-US" sz="1600" dirty="0"/>
          </a:p>
        </p:txBody>
      </p:sp>
      <p:sp>
        <p:nvSpPr>
          <p:cNvPr id="7" name="card 중심 연구 질문 · RQ2"/>
          <p:cNvSpPr/>
          <p:nvPr/>
        </p:nvSpPr>
        <p:spPr>
          <a:xfrm>
            <a:off x="6245352" y="1691640"/>
            <a:ext cx="5394960" cy="3611880"/>
          </a:xfrm>
          <a:prstGeom prst="roundRect">
            <a:avLst>
              <a:gd name="adj" fmla="val 2025"/>
            </a:avLst>
          </a:prstGeom>
          <a:solidFill>
            <a:srgbClr val="FBF0D9"/>
          </a:solidFill>
          <a:ln w="19050">
            <a:solidFill>
              <a:schemeClr val="accent1"/>
            </a:solidFill>
            <a:prstDash val="solid"/>
          </a:ln>
        </p:spPr>
      </p:sp>
      <p:sp>
        <p:nvSpPr>
          <p:cNvPr id="8" name="Text 5"/>
          <p:cNvSpPr txBox="1"/>
          <p:nvPr/>
        </p:nvSpPr>
        <p:spPr>
          <a:xfrm>
            <a:off x="6473952" y="1892808"/>
            <a:ext cx="4937760" cy="411480"/>
          </a:xfrm>
          <a:prstGeom prst="rect">
            <a:avLst/>
          </a:prstGeom>
          <a:noFill/>
          <a:ln/>
        </p:spPr>
        <p:txBody>
          <a:bodyPr wrap="square" lIns="0" tIns="0" rIns="0" bIns="0" rtlCol="0" anchor="t"/>
          <a:lstStyle/>
          <a:p>
            <a:pPr indent="0" marL="0">
              <a:buNone/>
            </a:pPr>
            <a:r>
              <a:rPr lang="en-US" sz="2000" b="1" dirty="0">
                <a:solidFill>
                  <a:schemeClr val="tx2"/>
                </a:solidFill>
              </a:rPr>
              <a:t>중심 연구 질문 · RQ2</a:t>
            </a:r>
            <a:endParaRPr lang="en-US" sz="2000" dirty="0"/>
          </a:p>
        </p:txBody>
      </p:sp>
      <p:sp>
        <p:nvSpPr>
          <p:cNvPr id="9" name="Text 6"/>
          <p:cNvSpPr txBox="1"/>
          <p:nvPr/>
        </p:nvSpPr>
        <p:spPr>
          <a:xfrm>
            <a:off x="6473952" y="2377440"/>
            <a:ext cx="4937760" cy="2743200"/>
          </a:xfrm>
          <a:prstGeom prst="rect">
            <a:avLst/>
          </a:prstGeom>
          <a:noFill/>
          <a:ln/>
        </p:spPr>
        <p:txBody>
          <a:bodyPr wrap="square" lIns="0" tIns="0" rIns="0" bIns="0" rtlCol="0" anchor="t"/>
          <a:lstStyle/>
          <a:p>
            <a:pPr indent="0" marL="0">
              <a:lnSpc>
                <a:spcPct val="115000"/>
              </a:lnSpc>
              <a:buNone/>
            </a:pPr>
            <a:r>
              <a:rPr lang="en-US" sz="1600" dirty="0">
                <a:solidFill>
                  <a:schemeClr val="tx1"/>
                </a:solidFill>
              </a:rPr>
              <a:t>판단 정책을 명시 모델로 포착하면, 보류한 내 판단과의 일치가 일반 LLM·RAG·요약 방식보다 높은가?</a:t>
            </a:r>
            <a:endParaRPr lang="en-US" sz="1600" dirty="0"/>
          </a:p>
          <a:p>
            <a:pPr indent="0" marL="0">
              <a:lnSpc>
                <a:spcPct val="115000"/>
              </a:lnSpc>
              <a:buNone/>
            </a:pPr>
            <a:endParaRPr lang="en-US" sz="1600" dirty="0"/>
          </a:p>
          <a:p>
            <a:pPr indent="0" marL="0">
              <a:lnSpc>
                <a:spcPct val="115000"/>
              </a:lnSpc>
              <a:buNone/>
            </a:pPr>
            <a:r>
              <a:rPr lang="en-US" sz="1600" dirty="0">
                <a:solidFill>
                  <a:schemeClr val="tx1"/>
                </a:solidFill>
              </a:rPr>
              <a:t>보조: RQ1 연결 · RQ3 재검사 상한·블라인드 · RQ4 이양 · RQ5 오염 · RQ7 공개 인물 식별</a:t>
            </a:r>
            <a:endParaRPr lang="en-US" sz="1600" dirty="0"/>
          </a:p>
        </p:txBody>
      </p:sp>
      <p:sp>
        <p:nvSpPr>
          <p:cNvPr id="10" name="Text 7"/>
          <p:cNvSpPr txBox="1"/>
          <p:nvPr/>
        </p:nvSpPr>
        <p:spPr>
          <a:xfrm>
            <a:off x="548640" y="5852160"/>
            <a:ext cx="11091672" cy="274320"/>
          </a:xfrm>
          <a:prstGeom prst="rect">
            <a:avLst/>
          </a:prstGeom>
          <a:noFill/>
          <a:ln/>
        </p:spPr>
        <p:txBody>
          <a:bodyPr wrap="square" lIns="0" tIns="0" rIns="0" bIns="0" rtlCol="0" anchor="ctr"/>
          <a:lstStyle/>
          <a:p>
            <a:pPr indent="0" marL="0">
              <a:buNone/>
            </a:pPr>
            <a:r>
              <a:rPr lang="en-US" sz="1100" dirty="0">
                <a:solidFill>
                  <a:srgbClr val="6B7785"/>
                </a:solidFill>
              </a:rPr>
              <a:t>* “찾지 못했다”는 부재 주장: 2026-10-11 1차 검색(9개 쿼리) 기준, 체계적 문헌고찰 아님</a:t>
            </a:r>
            <a:endParaRPr lang="en-US" sz="11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3 · 접근</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다섯 가지 기여 후보와 현재 상태</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914400"/>
                <a:gridCol w="7799832"/>
                <a:gridCol w="2377440"/>
              </a:tblGrid>
              <a:tr h="0">
                <a:tc>
                  <a:txBody>
                    <a:bodyPr/>
                    <a:lstStyle/>
                    <a:p>
                      <a:pPr indent="0" marL="0">
                        <a:buNone/>
                      </a:pPr>
                      <a:r>
                        <a:rPr lang="en-US" sz="1500" b="1" dirty="0">
                          <a:solidFill>
                            <a:schemeClr val="tx2"/>
                          </a:solidFill>
                        </a:rPr>
                        <a:t>번호</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기여</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상태</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r>
              <a:tr h="0">
                <a:tc>
                  <a:txBody>
                    <a:bodyPr/>
                    <a:lstStyle/>
                    <a:p>
                      <a:pPr indent="0" marL="0">
                        <a:buNone/>
                      </a:pPr>
                      <a:r>
                        <a:rPr lang="en-US" sz="1500" dirty="0">
                          <a:solidFill>
                            <a:schemeClr val="tx1"/>
                          </a:solidFill>
                        </a:rPr>
                        <a:t>C1</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준비도·연결·일치를 분리하는 보고 원칙</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구현·적용</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C2</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가상 기준 주입 연결 검사 (LLM 판정자 없이 이항검정)</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측정됨 (예비)</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C3</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판단 정책 포착: 단서 → 기준·가중치 → 예외 → 결정·확신도 → 이양</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설계만</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C4</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자연 발생 판단 짝(직전 AI 발화 → 내 답) + 오염 격리</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측정됨 (예비)</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C5</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보류 + 대조군 + 재검사 상한 + 블라인드 결합 프로토콜</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설계만</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160520"/>
            <a:ext cx="11091672" cy="82296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방법론 비유는 </a:t>
            </a:r>
            <a:pPr indent="0" marL="0">
              <a:lnSpc>
                <a:spcPct val="120000"/>
              </a:lnSpc>
              <a:buNone/>
            </a:pPr>
            <a:r>
              <a:rPr lang="en-US" sz="1600" b="1" dirty="0">
                <a:solidFill>
                  <a:schemeClr val="tx2"/>
                </a:solidFill>
              </a:rPr>
              <a:t>역공학</a:t>
            </a:r>
            <a:pPr indent="0" marL="0">
              <a:lnSpc>
                <a:spcPct val="120000"/>
              </a:lnSpc>
              <a:buNone/>
            </a:pPr>
            <a:r>
              <a:rPr lang="en-US" sz="1600" dirty="0">
                <a:solidFill>
                  <a:schemeClr val="tx1"/>
                </a:solidFill>
              </a:rPr>
              <a:t>: 관찰에서 판단 가설을 세우고, 입력을 바꿔 시험하고, 증거를 남긴다. 사람에게는 원본 코드가 없으므로 “복제”는 주장하지 않는다.</a:t>
            </a:r>
            <a:endParaRPr lang="en-US" sz="16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3 · 시스템</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본인이 쓴 것만 기억하고, 승인한 것만 말한다</a:t>
            </a:r>
            <a:endParaRPr lang="en-US" sz="3000" dirty="0"/>
          </a:p>
        </p:txBody>
      </p:sp>
      <p:sp>
        <p:nvSpPr>
          <p:cNvPr id="5" name="card 입력"/>
          <p:cNvSpPr/>
          <p:nvPr/>
        </p:nvSpPr>
        <p:spPr>
          <a:xfrm>
            <a:off x="548640" y="1828800"/>
            <a:ext cx="1984248" cy="2514600"/>
          </a:xfrm>
          <a:prstGeom prst="roundRect">
            <a:avLst>
              <a:gd name="adj" fmla="val 3687"/>
            </a:avLst>
          </a:prstGeom>
          <a:solidFill>
            <a:schemeClr val="bg2"/>
          </a:solidFill>
          <a:ln w="12700">
            <a:solidFill>
              <a:schemeClr val="bg2"/>
            </a:solidFill>
            <a:prstDash val="solid"/>
          </a:ln>
        </p:spPr>
      </p:sp>
      <p:sp>
        <p:nvSpPr>
          <p:cNvPr id="6" name="Text 3"/>
          <p:cNvSpPr txBox="1"/>
          <p:nvPr/>
        </p:nvSpPr>
        <p:spPr>
          <a:xfrm>
            <a:off x="777240" y="2029968"/>
            <a:ext cx="1527048" cy="411480"/>
          </a:xfrm>
          <a:prstGeom prst="rect">
            <a:avLst/>
          </a:prstGeom>
          <a:noFill/>
          <a:ln/>
        </p:spPr>
        <p:txBody>
          <a:bodyPr wrap="square" lIns="0" tIns="0" rIns="0" bIns="0" rtlCol="0" anchor="t"/>
          <a:lstStyle/>
          <a:p>
            <a:pPr indent="0" marL="0">
              <a:buNone/>
            </a:pPr>
            <a:r>
              <a:rPr lang="en-US" sz="2000" b="1" dirty="0">
                <a:solidFill>
                  <a:schemeClr val="tx2"/>
                </a:solidFill>
              </a:rPr>
              <a:t>입력</a:t>
            </a:r>
            <a:endParaRPr lang="en-US" sz="2000" dirty="0"/>
          </a:p>
        </p:txBody>
      </p:sp>
      <p:sp>
        <p:nvSpPr>
          <p:cNvPr id="7" name="Text 4"/>
          <p:cNvSpPr txBox="1"/>
          <p:nvPr/>
        </p:nvSpPr>
        <p:spPr>
          <a:xfrm>
            <a:off x="777240" y="2514600"/>
            <a:ext cx="1527048" cy="164592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직접 입력, 자문자답, 판단 사례, AI 대화 기록(본인 발화만)</a:t>
            </a:r>
            <a:endParaRPr lang="en-US" sz="1300" dirty="0"/>
          </a:p>
        </p:txBody>
      </p:sp>
      <p:sp>
        <p:nvSpPr>
          <p:cNvPr id="8" name="arrow 0"/>
          <p:cNvSpPr/>
          <p:nvPr/>
        </p:nvSpPr>
        <p:spPr>
          <a:xfrm>
            <a:off x="2578608" y="2944368"/>
            <a:ext cx="201168" cy="256032"/>
          </a:xfrm>
          <a:prstGeom prst="rightArrow">
            <a:avLst/>
          </a:prstGeom>
          <a:solidFill>
            <a:srgbClr val="9FB3C8"/>
          </a:solidFill>
          <a:ln w="12700">
            <a:solidFill>
              <a:srgbClr val="9FB3C8"/>
            </a:solidFill>
            <a:prstDash val="solid"/>
          </a:ln>
        </p:spPr>
      </p:sp>
      <p:sp>
        <p:nvSpPr>
          <p:cNvPr id="9" name="card 정제"/>
          <p:cNvSpPr/>
          <p:nvPr/>
        </p:nvSpPr>
        <p:spPr>
          <a:xfrm>
            <a:off x="2825496" y="1828800"/>
            <a:ext cx="1984248" cy="2514600"/>
          </a:xfrm>
          <a:prstGeom prst="roundRect">
            <a:avLst>
              <a:gd name="adj" fmla="val 3687"/>
            </a:avLst>
          </a:prstGeom>
          <a:solidFill>
            <a:schemeClr val="bg2"/>
          </a:solidFill>
          <a:ln w="12700">
            <a:solidFill>
              <a:schemeClr val="bg2"/>
            </a:solidFill>
            <a:prstDash val="solid"/>
          </a:ln>
        </p:spPr>
      </p:sp>
      <p:sp>
        <p:nvSpPr>
          <p:cNvPr id="10" name="Text 7"/>
          <p:cNvSpPr txBox="1"/>
          <p:nvPr/>
        </p:nvSpPr>
        <p:spPr>
          <a:xfrm>
            <a:off x="3054096" y="2029968"/>
            <a:ext cx="1527048" cy="411480"/>
          </a:xfrm>
          <a:prstGeom prst="rect">
            <a:avLst/>
          </a:prstGeom>
          <a:noFill/>
          <a:ln/>
        </p:spPr>
        <p:txBody>
          <a:bodyPr wrap="square" lIns="0" tIns="0" rIns="0" bIns="0" rtlCol="0" anchor="t"/>
          <a:lstStyle/>
          <a:p>
            <a:pPr indent="0" marL="0">
              <a:buNone/>
            </a:pPr>
            <a:r>
              <a:rPr lang="en-US" sz="2000" b="1" dirty="0">
                <a:solidFill>
                  <a:schemeClr val="tx2"/>
                </a:solidFill>
              </a:rPr>
              <a:t>정제</a:t>
            </a:r>
            <a:endParaRPr lang="en-US" sz="2000" dirty="0"/>
          </a:p>
        </p:txBody>
      </p:sp>
      <p:sp>
        <p:nvSpPr>
          <p:cNvPr id="11" name="Text 8"/>
          <p:cNvSpPr txBox="1"/>
          <p:nvPr/>
        </p:nvSpPr>
        <p:spPr>
          <a:xfrm>
            <a:off x="3054096" y="2514600"/>
            <a:ext cx="1527048" cy="164592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환각·에코 격리, 기준·사실·목표·결정만 장기 저장</a:t>
            </a:r>
            <a:endParaRPr lang="en-US" sz="1300" dirty="0"/>
          </a:p>
        </p:txBody>
      </p:sp>
      <p:sp>
        <p:nvSpPr>
          <p:cNvPr id="12" name="arrow 1"/>
          <p:cNvSpPr/>
          <p:nvPr/>
        </p:nvSpPr>
        <p:spPr>
          <a:xfrm>
            <a:off x="4855464" y="2944368"/>
            <a:ext cx="201168" cy="256032"/>
          </a:xfrm>
          <a:prstGeom prst="rightArrow">
            <a:avLst/>
          </a:prstGeom>
          <a:solidFill>
            <a:srgbClr val="9FB3C8"/>
          </a:solidFill>
          <a:ln w="12700">
            <a:solidFill>
              <a:srgbClr val="9FB3C8"/>
            </a:solidFill>
            <a:prstDash val="solid"/>
          </a:ln>
        </p:spPr>
      </p:sp>
      <p:sp>
        <p:nvSpPr>
          <p:cNvPr id="13" name="card 요약"/>
          <p:cNvSpPr/>
          <p:nvPr/>
        </p:nvSpPr>
        <p:spPr>
          <a:xfrm>
            <a:off x="5102352" y="1828800"/>
            <a:ext cx="1984248" cy="2514600"/>
          </a:xfrm>
          <a:prstGeom prst="roundRect">
            <a:avLst>
              <a:gd name="adj" fmla="val 3687"/>
            </a:avLst>
          </a:prstGeom>
          <a:solidFill>
            <a:schemeClr val="bg2"/>
          </a:solidFill>
          <a:ln w="12700">
            <a:solidFill>
              <a:schemeClr val="bg2"/>
            </a:solidFill>
            <a:prstDash val="solid"/>
          </a:ln>
        </p:spPr>
      </p:sp>
      <p:sp>
        <p:nvSpPr>
          <p:cNvPr id="14" name="Text 11"/>
          <p:cNvSpPr txBox="1"/>
          <p:nvPr/>
        </p:nvSpPr>
        <p:spPr>
          <a:xfrm>
            <a:off x="5330952" y="2029968"/>
            <a:ext cx="1527048" cy="411480"/>
          </a:xfrm>
          <a:prstGeom prst="rect">
            <a:avLst/>
          </a:prstGeom>
          <a:noFill/>
          <a:ln/>
        </p:spPr>
        <p:txBody>
          <a:bodyPr wrap="square" lIns="0" tIns="0" rIns="0" bIns="0" rtlCol="0" anchor="t"/>
          <a:lstStyle/>
          <a:p>
            <a:pPr indent="0" marL="0">
              <a:buNone/>
            </a:pPr>
            <a:r>
              <a:rPr lang="en-US" sz="2000" b="1" dirty="0">
                <a:solidFill>
                  <a:schemeClr val="tx2"/>
                </a:solidFill>
              </a:rPr>
              <a:t>요약</a:t>
            </a:r>
            <a:endParaRPr lang="en-US" sz="2000" dirty="0"/>
          </a:p>
        </p:txBody>
      </p:sp>
      <p:sp>
        <p:nvSpPr>
          <p:cNvPr id="15" name="Text 12"/>
          <p:cNvSpPr txBox="1"/>
          <p:nvPr/>
        </p:nvSpPr>
        <p:spPr>
          <a:xfrm>
            <a:off x="5330952" y="2514600"/>
            <a:ext cx="1527048" cy="164592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하는 일·말투·성격·가치. 승인한 구역만 프롬프트로</a:t>
            </a:r>
            <a:endParaRPr lang="en-US" sz="1300" dirty="0"/>
          </a:p>
        </p:txBody>
      </p:sp>
      <p:sp>
        <p:nvSpPr>
          <p:cNvPr id="16" name="arrow 2"/>
          <p:cNvSpPr/>
          <p:nvPr/>
        </p:nvSpPr>
        <p:spPr>
          <a:xfrm>
            <a:off x="7132320" y="2944368"/>
            <a:ext cx="201168" cy="256032"/>
          </a:xfrm>
          <a:prstGeom prst="rightArrow">
            <a:avLst/>
          </a:prstGeom>
          <a:solidFill>
            <a:srgbClr val="9FB3C8"/>
          </a:solidFill>
          <a:ln w="12700">
            <a:solidFill>
              <a:srgbClr val="9FB3C8"/>
            </a:solidFill>
            <a:prstDash val="solid"/>
          </a:ln>
        </p:spPr>
      </p:sp>
      <p:sp>
        <p:nvSpPr>
          <p:cNvPr id="17" name="card 판단"/>
          <p:cNvSpPr/>
          <p:nvPr/>
        </p:nvSpPr>
        <p:spPr>
          <a:xfrm>
            <a:off x="7379208" y="1828800"/>
            <a:ext cx="1984248" cy="2514600"/>
          </a:xfrm>
          <a:prstGeom prst="roundRect">
            <a:avLst>
              <a:gd name="adj" fmla="val 3687"/>
            </a:avLst>
          </a:prstGeom>
          <a:solidFill>
            <a:srgbClr val="FBF0D9"/>
          </a:solidFill>
          <a:ln w="19050">
            <a:solidFill>
              <a:schemeClr val="accent1"/>
            </a:solidFill>
            <a:prstDash val="solid"/>
          </a:ln>
        </p:spPr>
      </p:sp>
      <p:sp>
        <p:nvSpPr>
          <p:cNvPr id="18" name="Text 15"/>
          <p:cNvSpPr txBox="1"/>
          <p:nvPr/>
        </p:nvSpPr>
        <p:spPr>
          <a:xfrm>
            <a:off x="7607808" y="2029968"/>
            <a:ext cx="1527048" cy="411480"/>
          </a:xfrm>
          <a:prstGeom prst="rect">
            <a:avLst/>
          </a:prstGeom>
          <a:noFill/>
          <a:ln/>
        </p:spPr>
        <p:txBody>
          <a:bodyPr wrap="square" lIns="0" tIns="0" rIns="0" bIns="0" rtlCol="0" anchor="t"/>
          <a:lstStyle/>
          <a:p>
            <a:pPr indent="0" marL="0">
              <a:buNone/>
            </a:pPr>
            <a:r>
              <a:rPr lang="en-US" sz="2000" b="1" dirty="0">
                <a:solidFill>
                  <a:schemeClr val="tx2"/>
                </a:solidFill>
              </a:rPr>
              <a:t>판단</a:t>
            </a:r>
            <a:endParaRPr lang="en-US" sz="2000" dirty="0"/>
          </a:p>
        </p:txBody>
      </p:sp>
      <p:sp>
        <p:nvSpPr>
          <p:cNvPr id="19" name="Text 16"/>
          <p:cNvSpPr txBox="1"/>
          <p:nvPr/>
        </p:nvSpPr>
        <p:spPr>
          <a:xfrm>
            <a:off x="7607808" y="2514600"/>
            <a:ext cx="1527048" cy="164592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기준·예외 적용, 확신도, 낮으면 본인에게 이양</a:t>
            </a:r>
            <a:endParaRPr lang="en-US" sz="1300" dirty="0"/>
          </a:p>
        </p:txBody>
      </p:sp>
      <p:sp>
        <p:nvSpPr>
          <p:cNvPr id="20" name="arrow 3"/>
          <p:cNvSpPr/>
          <p:nvPr/>
        </p:nvSpPr>
        <p:spPr>
          <a:xfrm>
            <a:off x="9409176" y="2944368"/>
            <a:ext cx="201168" cy="256032"/>
          </a:xfrm>
          <a:prstGeom prst="rightArrow">
            <a:avLst/>
          </a:prstGeom>
          <a:solidFill>
            <a:srgbClr val="9FB3C8"/>
          </a:solidFill>
          <a:ln w="12700">
            <a:solidFill>
              <a:srgbClr val="9FB3C8"/>
            </a:solidFill>
            <a:prstDash val="solid"/>
          </a:ln>
        </p:spPr>
      </p:sp>
      <p:sp>
        <p:nvSpPr>
          <p:cNvPr id="21" name="card 표현"/>
          <p:cNvSpPr/>
          <p:nvPr/>
        </p:nvSpPr>
        <p:spPr>
          <a:xfrm>
            <a:off x="9656064" y="1828800"/>
            <a:ext cx="1984248" cy="2514600"/>
          </a:xfrm>
          <a:prstGeom prst="roundRect">
            <a:avLst>
              <a:gd name="adj" fmla="val 3687"/>
            </a:avLst>
          </a:prstGeom>
          <a:solidFill>
            <a:schemeClr val="bg2"/>
          </a:solidFill>
          <a:ln w="12700">
            <a:solidFill>
              <a:schemeClr val="bg2"/>
            </a:solidFill>
            <a:prstDash val="solid"/>
          </a:ln>
        </p:spPr>
      </p:sp>
      <p:sp>
        <p:nvSpPr>
          <p:cNvPr id="22" name="Text 19"/>
          <p:cNvSpPr txBox="1"/>
          <p:nvPr/>
        </p:nvSpPr>
        <p:spPr>
          <a:xfrm>
            <a:off x="9884664" y="2029968"/>
            <a:ext cx="1527048" cy="411480"/>
          </a:xfrm>
          <a:prstGeom prst="rect">
            <a:avLst/>
          </a:prstGeom>
          <a:noFill/>
          <a:ln/>
        </p:spPr>
        <p:txBody>
          <a:bodyPr wrap="square" lIns="0" tIns="0" rIns="0" bIns="0" rtlCol="0" anchor="t"/>
          <a:lstStyle/>
          <a:p>
            <a:pPr indent="0" marL="0">
              <a:buNone/>
            </a:pPr>
            <a:r>
              <a:rPr lang="en-US" sz="2000" b="1" dirty="0">
                <a:solidFill>
                  <a:schemeClr val="tx2"/>
                </a:solidFill>
              </a:rPr>
              <a:t>표현</a:t>
            </a:r>
            <a:endParaRPr lang="en-US" sz="2000" dirty="0"/>
          </a:p>
        </p:txBody>
      </p:sp>
      <p:sp>
        <p:nvSpPr>
          <p:cNvPr id="23" name="Text 20"/>
          <p:cNvSpPr txBox="1"/>
          <p:nvPr/>
        </p:nvSpPr>
        <p:spPr>
          <a:xfrm>
            <a:off x="9884664" y="2514600"/>
            <a:ext cx="1527048" cy="164592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얼굴과 음성, AI 표시와 즉시 중지</a:t>
            </a:r>
            <a:endParaRPr lang="en-US" sz="1300" dirty="0"/>
          </a:p>
        </p:txBody>
      </p:sp>
      <p:sp>
        <p:nvSpPr>
          <p:cNvPr id="24" name="Text 21"/>
          <p:cNvSpPr txBox="1"/>
          <p:nvPr/>
        </p:nvSpPr>
        <p:spPr>
          <a:xfrm>
            <a:off x="548640" y="4663440"/>
            <a:ext cx="11091672" cy="82296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연결 검사는 같은 프롬프트 경로에 가상 기준을 주입해 </a:t>
            </a:r>
            <a:pPr indent="0" marL="0">
              <a:lnSpc>
                <a:spcPct val="120000"/>
              </a:lnSpc>
              <a:buNone/>
            </a:pPr>
            <a:r>
              <a:rPr lang="en-US" sz="1600" b="1" dirty="0">
                <a:solidFill>
                  <a:schemeClr val="tx2"/>
                </a:solidFill>
              </a:rPr>
              <a:t>저장 데이터를 바꾸지 않고</a:t>
            </a:r>
            <a:pPr indent="0" marL="0">
              <a:lnSpc>
                <a:spcPct val="120000"/>
              </a:lnSpc>
              <a:buNone/>
            </a:pPr>
            <a:r>
              <a:rPr lang="en-US" sz="1600" dirty="0">
                <a:solidFill>
                  <a:schemeClr val="tx1"/>
                </a:solidFill>
              </a:rPr>
              <a:t> 입력→출력 의존을 잰다. 강조된 상자(판단 정책·이양)는 설계 단계. 로컬 실행: 지식 그래프 + 검색 벡터 + 로컬 LLM.</a:t>
            </a:r>
            <a:endParaRPr lang="en-US" sz="16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3 · 판단 워크플로우</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LLM이 아니라 내 기준이 판단한다</a:t>
            </a:r>
            <a:endParaRPr lang="en-US" sz="3000" dirty="0"/>
          </a:p>
        </p:txBody>
      </p:sp>
      <p:sp>
        <p:nvSpPr>
          <p:cNvPr id="5" name="card ① 사례 입력"/>
          <p:cNvSpPr/>
          <p:nvPr/>
        </p:nvSpPr>
        <p:spPr>
          <a:xfrm>
            <a:off x="548640" y="1691640"/>
            <a:ext cx="3520440" cy="1554480"/>
          </a:xfrm>
          <a:prstGeom prst="roundRect">
            <a:avLst>
              <a:gd name="adj" fmla="val 4706"/>
            </a:avLst>
          </a:prstGeom>
          <a:solidFill>
            <a:schemeClr val="bg2"/>
          </a:solidFill>
          <a:ln w="12700">
            <a:solidFill>
              <a:schemeClr val="bg2"/>
            </a:solidFill>
            <a:prstDash val="solid"/>
          </a:ln>
        </p:spPr>
      </p:sp>
      <p:sp>
        <p:nvSpPr>
          <p:cNvPr id="6" name="Text 3"/>
          <p:cNvSpPr txBox="1"/>
          <p:nvPr/>
        </p:nvSpPr>
        <p:spPr>
          <a:xfrm>
            <a:off x="777240" y="1892808"/>
            <a:ext cx="3063240" cy="411480"/>
          </a:xfrm>
          <a:prstGeom prst="rect">
            <a:avLst/>
          </a:prstGeom>
          <a:noFill/>
          <a:ln/>
        </p:spPr>
        <p:txBody>
          <a:bodyPr wrap="square" lIns="0" tIns="0" rIns="0" bIns="0" rtlCol="0" anchor="t"/>
          <a:lstStyle/>
          <a:p>
            <a:pPr indent="0" marL="0">
              <a:buNone/>
            </a:pPr>
            <a:r>
              <a:rPr lang="en-US" sz="1900" b="1" dirty="0">
                <a:solidFill>
                  <a:schemeClr val="tx2"/>
                </a:solidFill>
              </a:rPr>
              <a:t>① 사례 입력</a:t>
            </a:r>
            <a:endParaRPr lang="en-US" sz="1900" dirty="0"/>
          </a:p>
        </p:txBody>
      </p:sp>
      <p:sp>
        <p:nvSpPr>
          <p:cNvPr id="7" name="Text 4"/>
          <p:cNvSpPr txBox="1"/>
          <p:nvPr/>
        </p:nvSpPr>
        <p:spPr>
          <a:xfrm>
            <a:off x="777240" y="2377440"/>
            <a:ext cx="3063240" cy="68580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업무·일반·윤리 상황이 들어온다</a:t>
            </a:r>
            <a:endParaRPr lang="en-US" sz="1500" dirty="0"/>
          </a:p>
        </p:txBody>
      </p:sp>
      <p:sp>
        <p:nvSpPr>
          <p:cNvPr id="8" name="card ② 단서 추출"/>
          <p:cNvSpPr/>
          <p:nvPr/>
        </p:nvSpPr>
        <p:spPr>
          <a:xfrm>
            <a:off x="4336999" y="1691640"/>
            <a:ext cx="3520440" cy="1554480"/>
          </a:xfrm>
          <a:prstGeom prst="roundRect">
            <a:avLst>
              <a:gd name="adj" fmla="val 4706"/>
            </a:avLst>
          </a:prstGeom>
          <a:solidFill>
            <a:schemeClr val="bg2"/>
          </a:solidFill>
          <a:ln w="12700">
            <a:solidFill>
              <a:schemeClr val="bg2"/>
            </a:solidFill>
            <a:prstDash val="solid"/>
          </a:ln>
        </p:spPr>
      </p:sp>
      <p:sp>
        <p:nvSpPr>
          <p:cNvPr id="9" name="Text 6"/>
          <p:cNvSpPr txBox="1"/>
          <p:nvPr/>
        </p:nvSpPr>
        <p:spPr>
          <a:xfrm>
            <a:off x="4565599" y="1892808"/>
            <a:ext cx="3063240" cy="411480"/>
          </a:xfrm>
          <a:prstGeom prst="rect">
            <a:avLst/>
          </a:prstGeom>
          <a:noFill/>
          <a:ln/>
        </p:spPr>
        <p:txBody>
          <a:bodyPr wrap="square" lIns="0" tIns="0" rIns="0" bIns="0" rtlCol="0" anchor="t"/>
          <a:lstStyle/>
          <a:p>
            <a:pPr indent="0" marL="0">
              <a:buNone/>
            </a:pPr>
            <a:r>
              <a:rPr lang="en-US" sz="1900" b="1" dirty="0">
                <a:solidFill>
                  <a:schemeClr val="tx2"/>
                </a:solidFill>
              </a:rPr>
              <a:t>② 단서 추출</a:t>
            </a:r>
            <a:endParaRPr lang="en-US" sz="1900" dirty="0"/>
          </a:p>
        </p:txBody>
      </p:sp>
      <p:sp>
        <p:nvSpPr>
          <p:cNvPr id="10" name="Text 7"/>
          <p:cNvSpPr txBox="1"/>
          <p:nvPr/>
        </p:nvSpPr>
        <p:spPr>
          <a:xfrm>
            <a:off x="4565599" y="2377440"/>
            <a:ext cx="3063240" cy="68580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비용·위험·정확성·일정·사람</a:t>
            </a:r>
            <a:endParaRPr lang="en-US" sz="1500" dirty="0"/>
          </a:p>
        </p:txBody>
      </p:sp>
      <p:sp>
        <p:nvSpPr>
          <p:cNvPr id="11" name="card ③ 내 기준 적용"/>
          <p:cNvSpPr/>
          <p:nvPr/>
        </p:nvSpPr>
        <p:spPr>
          <a:xfrm>
            <a:off x="8125358" y="1691640"/>
            <a:ext cx="3520440" cy="1554480"/>
          </a:xfrm>
          <a:prstGeom prst="roundRect">
            <a:avLst>
              <a:gd name="adj" fmla="val 4706"/>
            </a:avLst>
          </a:prstGeom>
          <a:solidFill>
            <a:srgbClr val="FBF0D9"/>
          </a:solidFill>
          <a:ln w="19050">
            <a:solidFill>
              <a:schemeClr val="accent1"/>
            </a:solidFill>
            <a:prstDash val="solid"/>
          </a:ln>
        </p:spPr>
      </p:sp>
      <p:sp>
        <p:nvSpPr>
          <p:cNvPr id="12" name="Text 9"/>
          <p:cNvSpPr txBox="1"/>
          <p:nvPr/>
        </p:nvSpPr>
        <p:spPr>
          <a:xfrm>
            <a:off x="8353958" y="1892808"/>
            <a:ext cx="3063240" cy="411480"/>
          </a:xfrm>
          <a:prstGeom prst="rect">
            <a:avLst/>
          </a:prstGeom>
          <a:noFill/>
          <a:ln/>
        </p:spPr>
        <p:txBody>
          <a:bodyPr wrap="square" lIns="0" tIns="0" rIns="0" bIns="0" rtlCol="0" anchor="t"/>
          <a:lstStyle/>
          <a:p>
            <a:pPr indent="0" marL="0">
              <a:buNone/>
            </a:pPr>
            <a:r>
              <a:rPr lang="en-US" sz="1900" b="1" dirty="0">
                <a:solidFill>
                  <a:schemeClr val="tx2"/>
                </a:solidFill>
              </a:rPr>
              <a:t>③ 내 기준 적용</a:t>
            </a:r>
            <a:endParaRPr lang="en-US" sz="1900" dirty="0"/>
          </a:p>
        </p:txBody>
      </p:sp>
      <p:sp>
        <p:nvSpPr>
          <p:cNvPr id="13" name="Text 10"/>
          <p:cNvSpPr txBox="1"/>
          <p:nvPr/>
        </p:nvSpPr>
        <p:spPr>
          <a:xfrm>
            <a:off x="8353958" y="2377440"/>
            <a:ext cx="3063240" cy="68580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기준·가중치·예외 + 비슷한 과거 결정 (설계)</a:t>
            </a:r>
            <a:endParaRPr lang="en-US" sz="1500" dirty="0"/>
          </a:p>
        </p:txBody>
      </p:sp>
      <p:sp>
        <p:nvSpPr>
          <p:cNvPr id="14" name="card ④ 결정 + 확신도"/>
          <p:cNvSpPr/>
          <p:nvPr/>
        </p:nvSpPr>
        <p:spPr>
          <a:xfrm>
            <a:off x="548640" y="3474720"/>
            <a:ext cx="3520440" cy="1554480"/>
          </a:xfrm>
          <a:prstGeom prst="roundRect">
            <a:avLst>
              <a:gd name="adj" fmla="val 4706"/>
            </a:avLst>
          </a:prstGeom>
          <a:solidFill>
            <a:schemeClr val="bg2"/>
          </a:solidFill>
          <a:ln w="12700">
            <a:solidFill>
              <a:schemeClr val="bg2"/>
            </a:solidFill>
            <a:prstDash val="solid"/>
          </a:ln>
        </p:spPr>
      </p:sp>
      <p:sp>
        <p:nvSpPr>
          <p:cNvPr id="15" name="Text 12"/>
          <p:cNvSpPr txBox="1"/>
          <p:nvPr/>
        </p:nvSpPr>
        <p:spPr>
          <a:xfrm>
            <a:off x="777240" y="3675888"/>
            <a:ext cx="3063240" cy="411480"/>
          </a:xfrm>
          <a:prstGeom prst="rect">
            <a:avLst/>
          </a:prstGeom>
          <a:noFill/>
          <a:ln/>
        </p:spPr>
        <p:txBody>
          <a:bodyPr wrap="square" lIns="0" tIns="0" rIns="0" bIns="0" rtlCol="0" anchor="t"/>
          <a:lstStyle/>
          <a:p>
            <a:pPr indent="0" marL="0">
              <a:buNone/>
            </a:pPr>
            <a:r>
              <a:rPr lang="en-US" sz="1900" b="1" dirty="0">
                <a:solidFill>
                  <a:schemeClr val="tx2"/>
                </a:solidFill>
              </a:rPr>
              <a:t>④ 결정 + 확신도</a:t>
            </a:r>
            <a:endParaRPr lang="en-US" sz="1900" dirty="0"/>
          </a:p>
        </p:txBody>
      </p:sp>
      <p:sp>
        <p:nvSpPr>
          <p:cNvPr id="16" name="Text 13"/>
          <p:cNvSpPr txBox="1"/>
          <p:nvPr/>
        </p:nvSpPr>
        <p:spPr>
          <a:xfrm>
            <a:off x="777240" y="4160520"/>
            <a:ext cx="3063240" cy="68580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이유를 내 말투로 설명한다</a:t>
            </a:r>
            <a:endParaRPr lang="en-US" sz="1500" dirty="0"/>
          </a:p>
        </p:txBody>
      </p:sp>
      <p:sp>
        <p:nvSpPr>
          <p:cNvPr id="17" name="card ⑤ 넘길지 판단"/>
          <p:cNvSpPr/>
          <p:nvPr/>
        </p:nvSpPr>
        <p:spPr>
          <a:xfrm>
            <a:off x="4336999" y="3474720"/>
            <a:ext cx="3520440" cy="1554480"/>
          </a:xfrm>
          <a:prstGeom prst="roundRect">
            <a:avLst>
              <a:gd name="adj" fmla="val 4706"/>
            </a:avLst>
          </a:prstGeom>
          <a:solidFill>
            <a:srgbClr val="FBF0D9"/>
          </a:solidFill>
          <a:ln w="19050">
            <a:solidFill>
              <a:schemeClr val="accent1"/>
            </a:solidFill>
            <a:prstDash val="solid"/>
          </a:ln>
        </p:spPr>
      </p:sp>
      <p:sp>
        <p:nvSpPr>
          <p:cNvPr id="18" name="Text 15"/>
          <p:cNvSpPr txBox="1"/>
          <p:nvPr/>
        </p:nvSpPr>
        <p:spPr>
          <a:xfrm>
            <a:off x="4565599" y="3675888"/>
            <a:ext cx="3063240" cy="411480"/>
          </a:xfrm>
          <a:prstGeom prst="rect">
            <a:avLst/>
          </a:prstGeom>
          <a:noFill/>
          <a:ln/>
        </p:spPr>
        <p:txBody>
          <a:bodyPr wrap="square" lIns="0" tIns="0" rIns="0" bIns="0" rtlCol="0" anchor="t"/>
          <a:lstStyle/>
          <a:p>
            <a:pPr indent="0" marL="0">
              <a:buNone/>
            </a:pPr>
            <a:r>
              <a:rPr lang="en-US" sz="1900" b="1" dirty="0">
                <a:solidFill>
                  <a:schemeClr val="tx2"/>
                </a:solidFill>
              </a:rPr>
              <a:t>⑤ 넘길지 판단</a:t>
            </a:r>
            <a:endParaRPr lang="en-US" sz="1900" dirty="0"/>
          </a:p>
        </p:txBody>
      </p:sp>
      <p:sp>
        <p:nvSpPr>
          <p:cNvPr id="19" name="Text 16"/>
          <p:cNvSpPr txBox="1"/>
          <p:nvPr/>
        </p:nvSpPr>
        <p:spPr>
          <a:xfrm>
            <a:off x="4565599" y="4160520"/>
            <a:ext cx="3063240" cy="68580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확신 낮음·처음 보는 유형·권한 밖이면 나에게 (설계)</a:t>
            </a:r>
            <a:endParaRPr lang="en-US" sz="1500" dirty="0"/>
          </a:p>
        </p:txBody>
      </p:sp>
      <p:sp>
        <p:nvSpPr>
          <p:cNvPr id="20" name="card ⑥ 전달"/>
          <p:cNvSpPr/>
          <p:nvPr/>
        </p:nvSpPr>
        <p:spPr>
          <a:xfrm>
            <a:off x="8125358" y="3474720"/>
            <a:ext cx="3520440" cy="1554480"/>
          </a:xfrm>
          <a:prstGeom prst="roundRect">
            <a:avLst>
              <a:gd name="adj" fmla="val 4706"/>
            </a:avLst>
          </a:prstGeom>
          <a:solidFill>
            <a:schemeClr val="bg2"/>
          </a:solidFill>
          <a:ln w="12700">
            <a:solidFill>
              <a:schemeClr val="bg2"/>
            </a:solidFill>
            <a:prstDash val="solid"/>
          </a:ln>
        </p:spPr>
      </p:sp>
      <p:sp>
        <p:nvSpPr>
          <p:cNvPr id="21" name="Text 18"/>
          <p:cNvSpPr txBox="1"/>
          <p:nvPr/>
        </p:nvSpPr>
        <p:spPr>
          <a:xfrm>
            <a:off x="8353958" y="3675888"/>
            <a:ext cx="3063240" cy="411480"/>
          </a:xfrm>
          <a:prstGeom prst="rect">
            <a:avLst/>
          </a:prstGeom>
          <a:noFill/>
          <a:ln/>
        </p:spPr>
        <p:txBody>
          <a:bodyPr wrap="square" lIns="0" tIns="0" rIns="0" bIns="0" rtlCol="0" anchor="t"/>
          <a:lstStyle/>
          <a:p>
            <a:pPr indent="0" marL="0">
              <a:buNone/>
            </a:pPr>
            <a:r>
              <a:rPr lang="en-US" sz="1900" b="1" dirty="0">
                <a:solidFill>
                  <a:schemeClr val="tx2"/>
                </a:solidFill>
              </a:rPr>
              <a:t>⑥ 전달</a:t>
            </a:r>
            <a:endParaRPr lang="en-US" sz="1900" dirty="0"/>
          </a:p>
        </p:txBody>
      </p:sp>
      <p:sp>
        <p:nvSpPr>
          <p:cNvPr id="22" name="Text 19"/>
          <p:cNvSpPr txBox="1"/>
          <p:nvPr/>
        </p:nvSpPr>
        <p:spPr>
          <a:xfrm>
            <a:off x="8353958" y="4160520"/>
            <a:ext cx="3063240" cy="68580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결론을 얼굴·목소리로, AI 표시와 함께</a:t>
            </a:r>
            <a:endParaRPr lang="en-US" sz="1500" dirty="0"/>
          </a:p>
        </p:txBody>
      </p:sp>
      <p:sp>
        <p:nvSpPr>
          <p:cNvPr id="23" name="Text 20"/>
          <p:cNvSpPr txBox="1"/>
          <p:nvPr/>
        </p:nvSpPr>
        <p:spPr>
          <a:xfrm>
            <a:off x="548640" y="5349240"/>
            <a:ext cx="11091672" cy="640080"/>
          </a:xfrm>
          <a:prstGeom prst="rect">
            <a:avLst/>
          </a:prstGeom>
          <a:noFill/>
          <a:ln/>
        </p:spPr>
        <p:txBody>
          <a:bodyPr wrap="square" lIns="0" tIns="0" rIns="0" bIns="0" rtlCol="0" anchor="t"/>
          <a:lstStyle/>
          <a:p>
            <a:pPr indent="0" marL="0">
              <a:lnSpc>
                <a:spcPct val="120000"/>
              </a:lnSpc>
              <a:buNone/>
            </a:pPr>
            <a:r>
              <a:rPr lang="en-US" sz="1500" dirty="0">
                <a:solidFill>
                  <a:schemeClr val="tx1"/>
                </a:solidFill>
              </a:rPr>
              <a:t>근거: 사람의 판단을 명시 모델로 만들면 일관성 덕분에 본인보다 안정적일 수 있다(Goldberg 1970, Dawes 1979). 강조된 상자 = 설계 단계.</a:t>
            </a:r>
            <a:endParaRPr lang="en-US" sz="15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4 · 평가 프로토콜</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보류한 내 판단으로, 대조군과 함께 잰다</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4480560" cy="914400"/>
        </p:xfrm>
        <a:graphic>
          <a:graphicData uri="http://schemas.openxmlformats.org/drawingml/2006/table">
            <a:tbl>
              <a:tblPr/>
              <a:tblGrid>
                <a:gridCol w="822960"/>
                <a:gridCol w="3657600"/>
              </a:tblGrid>
              <a:tr h="0">
                <a:tc>
                  <a:txBody>
                    <a:bodyPr/>
                    <a:lstStyle/>
                    <a:p>
                      <a:pPr indent="0" marL="0">
                        <a:buNone/>
                      </a:pPr>
                      <a:r>
                        <a:rPr lang="en-US" sz="1500" b="1" dirty="0">
                          <a:solidFill>
                            <a:schemeClr val="tx2"/>
                          </a:solidFill>
                        </a:rPr>
                        <a:t>조건</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구성</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r>
              <a:tr h="0">
                <a:tc>
                  <a:txBody>
                    <a:bodyPr/>
                    <a:lstStyle/>
                    <a:p>
                      <a:pPr indent="0" marL="0">
                        <a:buNone/>
                      </a:pPr>
                      <a:r>
                        <a:rPr lang="en-US" sz="1500" dirty="0">
                          <a:solidFill>
                            <a:schemeClr val="tx1"/>
                          </a:solidFill>
                        </a:rPr>
                        <a:t>B0</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일반 LLM (내 정보 없음)</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r h="0">
                <a:tc>
                  <a:txBody>
                    <a:bodyPr/>
                    <a:lstStyle/>
                    <a:p>
                      <a:pPr indent="0" marL="0">
                        <a:buNone/>
                      </a:pPr>
                      <a:r>
                        <a:rPr lang="en-US" sz="1500" dirty="0">
                          <a:solidFill>
                            <a:schemeClr val="tx1"/>
                          </a:solidFill>
                        </a:rPr>
                        <a:t>B1</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기본 정보·인구통계만</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r h="0">
                <a:tc>
                  <a:txBody>
                    <a:bodyPr/>
                    <a:lstStyle/>
                    <a:p>
                      <a:pPr indent="0" marL="0">
                        <a:buNone/>
                      </a:pPr>
                      <a:r>
                        <a:rPr lang="en-US" sz="1500" dirty="0">
                          <a:solidFill>
                            <a:schemeClr val="tx1"/>
                          </a:solidFill>
                        </a:rPr>
                        <a:t>B2</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지식 검색(RAG)</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r h="0">
                <a:tc>
                  <a:txBody>
                    <a:bodyPr/>
                    <a:lstStyle/>
                    <a:p>
                      <a:pPr indent="0" marL="0">
                        <a:buNone/>
                      </a:pPr>
                      <a:r>
                        <a:rPr lang="en-US" sz="1500" dirty="0">
                          <a:solidFill>
                            <a:schemeClr val="tx1"/>
                          </a:solidFill>
                        </a:rPr>
                        <a:t>B3</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B2 + 승인 요약 + 말투</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r h="0">
                <a:tc>
                  <a:txBody>
                    <a:bodyPr/>
                    <a:lstStyle/>
                    <a:p>
                      <a:pPr indent="0" marL="0">
                        <a:buNone/>
                      </a:pPr>
                      <a:r>
                        <a:rPr lang="en-US" sz="1500" dirty="0">
                          <a:solidFill>
                            <a:schemeClr val="tx1"/>
                          </a:solidFill>
                        </a:rPr>
                        <a:t>B4</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B3 + 판단 정책 + 이양 (제안)</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394960" y="1691640"/>
          <a:ext cx="6245352" cy="914400"/>
        </p:xfrm>
        <a:graphic>
          <a:graphicData uri="http://schemas.openxmlformats.org/drawingml/2006/table">
            <a:tbl>
              <a:tblPr/>
              <a:tblGrid>
                <a:gridCol w="2103120"/>
                <a:gridCol w="4142232"/>
              </a:tblGrid>
              <a:tr h="0">
                <a:tc>
                  <a:txBody>
                    <a:bodyPr/>
                    <a:lstStyle/>
                    <a:p>
                      <a:pPr indent="0" marL="0">
                        <a:buNone/>
                      </a:pPr>
                      <a:r>
                        <a:rPr lang="en-US" sz="1500" b="1" dirty="0">
                          <a:solidFill>
                            <a:schemeClr val="tx2"/>
                          </a:solidFill>
                        </a:rPr>
                        <a:t>지표</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무엇을 보나</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r>
              <a:tr h="0">
                <a:tc>
                  <a:txBody>
                    <a:bodyPr/>
                    <a:lstStyle/>
                    <a:p>
                      <a:pPr indent="0" marL="0">
                        <a:buNone/>
                      </a:pPr>
                      <a:r>
                        <a:rPr lang="en-US" sz="1500" dirty="0">
                          <a:solidFill>
                            <a:schemeClr val="tx1"/>
                          </a:solidFill>
                        </a:rPr>
                        <a:t>M1 보류 일치율</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B4가 B0~B3보다 높은가 (McNemar)</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r h="0">
                <a:tc>
                  <a:txBody>
                    <a:bodyPr/>
                    <a:lstStyle/>
                    <a:p>
                      <a:pPr indent="0" marL="0">
                        <a:buNone/>
                      </a:pPr>
                      <a:r>
                        <a:rPr lang="en-US" sz="1500" dirty="0">
                          <a:solidFill>
                            <a:schemeClr val="tx1"/>
                          </a:solidFill>
                        </a:rPr>
                        <a:t>M2 재검사 상한</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내 자기 일관성 대비 몇 %인가</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r h="0">
                <a:tc>
                  <a:txBody>
                    <a:bodyPr/>
                    <a:lstStyle/>
                    <a:p>
                      <a:pPr indent="0" marL="0">
                        <a:buNone/>
                      </a:pPr>
                      <a:r>
                        <a:rPr lang="en-US" sz="1500" dirty="0">
                          <a:solidFill>
                            <a:schemeClr val="tx1"/>
                          </a:solidFill>
                        </a:rPr>
                        <a:t>M3 블라인드 구별</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지인이 내 답과 구별하는가</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r h="0">
                <a:tc>
                  <a:txBody>
                    <a:bodyPr/>
                    <a:lstStyle/>
                    <a:p>
                      <a:pPr indent="0" marL="0">
                        <a:buNone/>
                      </a:pPr>
                      <a:r>
                        <a:rPr lang="en-US" sz="1500" dirty="0">
                          <a:solidFill>
                            <a:schemeClr val="tx1"/>
                          </a:solidFill>
                        </a:rPr>
                        <a:t>M4 개인 이탈</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평균이 아닌 “나”를 맞히는가</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r h="0">
                <a:tc>
                  <a:txBody>
                    <a:bodyPr/>
                    <a:lstStyle/>
                    <a:p>
                      <a:pPr indent="0" marL="0">
                        <a:buNone/>
                      </a:pPr>
                      <a:r>
                        <a:rPr lang="en-US" sz="1500" dirty="0">
                          <a:solidFill>
                            <a:schemeClr val="tx1"/>
                          </a:solidFill>
                        </a:rPr>
                        <a:t>M5 확신도 보정</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c>
                  <a:txBody>
                    <a:bodyPr/>
                    <a:lstStyle/>
                    <a:p>
                      <a:pPr indent="0" marL="0">
                        <a:buNone/>
                      </a:pPr>
                      <a:r>
                        <a:rPr lang="en-US" sz="1500" dirty="0">
                          <a:solidFill>
                            <a:schemeClr val="tx1"/>
                          </a:solidFill>
                        </a:rPr>
                        <a:t>넘길 때 정말 틀릴 확률이 높은가</a:t>
                      </a:r>
                      <a:endParaRPr lang="en-US" sz="1500" dirty="0"/>
                    </a:p>
                  </a:txBody>
                  <a:tcPr marL="91440" marR="91440" marT="54864" marB="54864">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tcPr>
                </a:tc>
              </a:tr>
            </a:tbl>
          </a:graphicData>
        </a:graphic>
      </p:graphicFrame>
      <p:sp>
        <p:nvSpPr>
          <p:cNvPr id="7" name="Text 2"/>
          <p:cNvSpPr txBox="1"/>
          <p:nvPr/>
        </p:nvSpPr>
        <p:spPr>
          <a:xfrm>
            <a:off x="548640" y="4069080"/>
            <a:ext cx="11091672" cy="91440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표본: 정확도 50%일 때 n=30이면 95% 구간 ±18%p, n=100이면 ±10%p → </a:t>
            </a:r>
            <a:pPr indent="0" marL="0">
              <a:lnSpc>
                <a:spcPct val="120000"/>
              </a:lnSpc>
              <a:buNone/>
            </a:pPr>
            <a:r>
              <a:rPr lang="en-US" sz="1600" b="1" dirty="0">
                <a:solidFill>
                  <a:schemeClr val="tx2"/>
                </a:solidFill>
              </a:rPr>
              <a:t>보류 사례 n≥100 목표</a:t>
            </a:r>
            <a:pPr indent="0" marL="0">
              <a:lnSpc>
                <a:spcPct val="120000"/>
              </a:lnSpc>
              <a:buNone/>
            </a:pPr>
            <a:r>
              <a:rPr lang="en-US" sz="1600" dirty="0">
                <a:solidFill>
                  <a:schemeClr val="tx1"/>
                </a:solidFill>
              </a:rPr>
              <a:t>. 시험 사례는 정책을 만들기 전에 봉인한다. 같은 모델·같은 프롬프트 예산에서 조건만 바꾼다.</a:t>
            </a:r>
            <a:endParaRPr lang="en-US" sz="16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914400" y="1280160"/>
            <a:ext cx="8229600" cy="365760"/>
          </a:xfrm>
          <a:prstGeom prst="rect">
            <a:avLst/>
          </a:prstGeom>
          <a:noFill/>
          <a:ln/>
        </p:spPr>
        <p:txBody>
          <a:bodyPr wrap="square" lIns="0" tIns="0" rIns="0" bIns="0" rtlCol="0"/>
          <a:lstStyle/>
          <a:p>
            <a:pPr indent="0" marL="0">
              <a:buNone/>
            </a:pPr>
            <a:r>
              <a:rPr lang="en-US" sz="1400" b="1" spc="300" kern="0" dirty="0">
                <a:solidFill>
                  <a:schemeClr val="tx2"/>
                </a:solidFill>
              </a:rPr>
              <a:t>원칙</a:t>
            </a:r>
            <a:endParaRPr lang="en-US" sz="1400" dirty="0"/>
          </a:p>
        </p:txBody>
      </p:sp>
      <p:sp>
        <p:nvSpPr>
          <p:cNvPr id="3" name="Text 0"/>
          <p:cNvSpPr/>
          <p:nvPr>
            <p:ph idx="101" type="title" hasCustomPrompt="1"/>
          </p:nvPr>
        </p:nvSpPr>
        <p:spPr>
          <a:xfrm>
            <a:off x="914400" y="1737360"/>
            <a:ext cx="10332720" cy="2926080"/>
          </a:xfrm>
          <a:prstGeom prst="rect">
            <a:avLst/>
          </a:prstGeom>
          <a:noFill/>
          <a:ln/>
        </p:spPr>
        <p:txBody>
          <a:bodyPr wrap="square" lIns="0" tIns="0" rIns="0" bIns="0" rtlCol="0" anchor="ctr"/>
          <a:lstStyle/>
          <a:p>
            <a:pPr algn="l" indent="0" marL="0">
              <a:buNone/>
            </a:pPr>
            <a:r>
              <a:rPr lang="en-US" sz="4000" b="1" dirty="0">
                <a:solidFill>
                  <a:schemeClr val="tx2"/>
                </a:solidFill>
              </a:rPr>
              <a:t>얼마나 많이 아는가가 아니라,</a:t>
            </a:r>
            <a:endParaRPr lang="en-US" sz="4000" dirty="0"/>
          </a:p>
          <a:p>
            <a:pPr algn="l" indent="0" marL="0">
              <a:buNone/>
            </a:pPr>
            <a:r>
              <a:rPr lang="en-US" sz="4000" b="1" dirty="0">
                <a:solidFill>
                  <a:schemeClr val="tx2"/>
                </a:solidFill>
              </a:rPr>
              <a:t>보류한 내 판단을 얼마나 맞히고</a:t>
            </a:r>
            <a:endParaRPr lang="en-US" sz="4000" dirty="0"/>
          </a:p>
          <a:p>
            <a:pPr algn="l" indent="0" marL="0">
              <a:buNone/>
            </a:pPr>
            <a:r>
              <a:rPr lang="en-US" sz="4000" b="1" dirty="0">
                <a:solidFill>
                  <a:schemeClr val="tx2"/>
                </a:solidFill>
              </a:rPr>
              <a:t>모를 때 넘기는가</a:t>
            </a:r>
            <a:endParaRPr lang="en-US" sz="4000" dirty="0"/>
          </a:p>
        </p:txBody>
      </p:sp>
      <p:sp>
        <p:nvSpPr>
          <p:cNvPr id="5" name="Text 0"/>
          <p:cNvSpPr/>
          <p:nvPr>
            <p:ph idx="102" type="body" hasCustomPrompt="1"/>
          </p:nvPr>
        </p:nvSpPr>
        <p:spPr>
          <a:xfrm>
            <a:off x="914400" y="4800600"/>
            <a:ext cx="10332720" cy="548640"/>
          </a:xfrm>
          <a:prstGeom prst="rect">
            <a:avLst/>
          </a:prstGeom>
          <a:noFill/>
          <a:ln/>
        </p:spPr>
        <p:txBody>
          <a:bodyPr wrap="square" lIns="0" tIns="0" rIns="0" bIns="0" rtlCol="0"/>
          <a:lstStyle/>
          <a:p>
            <a:pPr indent="0" marL="0">
              <a:buNone/>
            </a:pPr>
            <a:r>
              <a:rPr lang="en-US" sz="1800" dirty="0">
                <a:solidFill>
                  <a:schemeClr val="tx2"/>
                </a:solidFill>
              </a:rPr>
              <a:t>준비도·입력량·지식 그래프 크기는 일치로 보고하지 않는다.</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4"/>
                </a:solidFill>
              </a:rPr>
              <a:t>5 · 예비 관찰 (N=1)</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bg1"/>
                </a:solidFill>
              </a:rPr>
              <a:t>준비도와 연결은 보였다. 일치는 아직이다</a:t>
            </a:r>
            <a:endParaRPr lang="en-US" sz="3000" dirty="0"/>
          </a:p>
        </p:txBody>
      </p:sp>
      <p:sp>
        <p:nvSpPr>
          <p:cNvPr id="5" name="Text 2"/>
          <p:cNvSpPr txBox="1"/>
          <p:nvPr/>
        </p:nvSpPr>
        <p:spPr>
          <a:xfrm>
            <a:off x="548640" y="1920240"/>
            <a:ext cx="2697480" cy="1005840"/>
          </a:xfrm>
          <a:prstGeom prst="rect">
            <a:avLst/>
          </a:prstGeom>
          <a:noFill/>
          <a:ln/>
        </p:spPr>
        <p:txBody>
          <a:bodyPr wrap="square" lIns="0" tIns="0" rIns="0" bIns="0" rtlCol="0" anchor="b"/>
          <a:lstStyle/>
          <a:p>
            <a:pPr indent="0" marL="0">
              <a:buNone/>
            </a:pPr>
            <a:r>
              <a:rPr lang="en-US" sz="4000" b="1" dirty="0">
                <a:solidFill>
                  <a:schemeClr val="bg1"/>
                </a:solidFill>
              </a:rPr>
              <a:t>324</a:t>
            </a:r>
            <a:endParaRPr lang="en-US" sz="4000" dirty="0"/>
          </a:p>
        </p:txBody>
      </p:sp>
      <p:sp>
        <p:nvSpPr>
          <p:cNvPr id="6" name="Text 3"/>
          <p:cNvSpPr txBox="1"/>
          <p:nvPr/>
        </p:nvSpPr>
        <p:spPr>
          <a:xfrm>
            <a:off x="548640" y="3063240"/>
            <a:ext cx="2606040" cy="1097280"/>
          </a:xfrm>
          <a:prstGeom prst="rect">
            <a:avLst/>
          </a:prstGeom>
          <a:noFill/>
          <a:ln/>
        </p:spPr>
        <p:txBody>
          <a:bodyPr wrap="square" lIns="0" tIns="0" rIns="0" bIns="0" rtlCol="0" anchor="t"/>
          <a:lstStyle/>
          <a:p>
            <a:pPr indent="0" marL="0">
              <a:lnSpc>
                <a:spcPct val="115000"/>
              </a:lnSpc>
              <a:buNone/>
            </a:pPr>
            <a:r>
              <a:rPr lang="en-US" sz="1400" dirty="0">
                <a:solidFill>
                  <a:srgbClr val="BFD0E0"/>
                </a:solidFill>
              </a:rPr>
              <a:t>격리한 오염 발화</a:t>
            </a:r>
            <a:endParaRPr lang="en-US" sz="1400" dirty="0"/>
          </a:p>
          <a:p>
            <a:pPr indent="0" marL="0">
              <a:lnSpc>
                <a:spcPct val="115000"/>
              </a:lnSpc>
              <a:buNone/>
            </a:pPr>
            <a:r>
              <a:rPr lang="en-US" sz="1400" dirty="0">
                <a:solidFill>
                  <a:srgbClr val="BFD0E0"/>
                </a:solidFill>
              </a:rPr>
              <a:t>(환각 184 · 내용없음 68 · 주변소리 32 등)</a:t>
            </a:r>
            <a:endParaRPr lang="en-US" sz="1400" dirty="0"/>
          </a:p>
        </p:txBody>
      </p:sp>
      <p:sp>
        <p:nvSpPr>
          <p:cNvPr id="7" name="Text 4"/>
          <p:cNvSpPr txBox="1"/>
          <p:nvPr/>
        </p:nvSpPr>
        <p:spPr>
          <a:xfrm>
            <a:off x="3355848" y="1920240"/>
            <a:ext cx="2697480" cy="1005840"/>
          </a:xfrm>
          <a:prstGeom prst="rect">
            <a:avLst/>
          </a:prstGeom>
          <a:noFill/>
          <a:ln/>
        </p:spPr>
        <p:txBody>
          <a:bodyPr wrap="square" lIns="0" tIns="0" rIns="0" bIns="0" rtlCol="0" anchor="b"/>
          <a:lstStyle/>
          <a:p>
            <a:pPr indent="0" marL="0">
              <a:buNone/>
            </a:pPr>
            <a:r>
              <a:rPr lang="en-US" sz="4000" b="1" dirty="0">
                <a:solidFill>
                  <a:schemeClr val="bg1"/>
                </a:solidFill>
              </a:rPr>
              <a:t>6 / 8</a:t>
            </a:r>
            <a:endParaRPr lang="en-US" sz="4000" dirty="0"/>
          </a:p>
        </p:txBody>
      </p:sp>
      <p:sp>
        <p:nvSpPr>
          <p:cNvPr id="8" name="Text 5"/>
          <p:cNvSpPr txBox="1"/>
          <p:nvPr/>
        </p:nvSpPr>
        <p:spPr>
          <a:xfrm>
            <a:off x="3355848" y="3063240"/>
            <a:ext cx="2606040" cy="1097280"/>
          </a:xfrm>
          <a:prstGeom prst="rect">
            <a:avLst/>
          </a:prstGeom>
          <a:noFill/>
          <a:ln/>
        </p:spPr>
        <p:txBody>
          <a:bodyPr wrap="square" lIns="0" tIns="0" rIns="0" bIns="0" rtlCol="0" anchor="t"/>
          <a:lstStyle/>
          <a:p>
            <a:pPr indent="0" marL="0">
              <a:lnSpc>
                <a:spcPct val="115000"/>
              </a:lnSpc>
              <a:buNone/>
            </a:pPr>
            <a:r>
              <a:rPr lang="en-US" sz="1400" dirty="0">
                <a:solidFill>
                  <a:srgbClr val="BFD0E0"/>
                </a:solidFill>
              </a:rPr>
              <a:t>주입한 기준을 따라 선택이 바뀜</a:t>
            </a:r>
            <a:endParaRPr lang="en-US" sz="1400" dirty="0"/>
          </a:p>
          <a:p>
            <a:pPr indent="0" marL="0">
              <a:lnSpc>
                <a:spcPct val="115000"/>
              </a:lnSpc>
              <a:buNone/>
            </a:pPr>
            <a:r>
              <a:rPr lang="en-US" sz="1400" dirty="0">
                <a:solidFill>
                  <a:srgbClr val="BFD0E0"/>
                </a:solidFill>
              </a:rPr>
              <a:t>(p≈0.004, 소형 로컬 모델)</a:t>
            </a:r>
            <a:endParaRPr lang="en-US" sz="1400" dirty="0"/>
          </a:p>
        </p:txBody>
      </p:sp>
      <p:sp>
        <p:nvSpPr>
          <p:cNvPr id="9" name="Text 6"/>
          <p:cNvSpPr txBox="1"/>
          <p:nvPr/>
        </p:nvSpPr>
        <p:spPr>
          <a:xfrm>
            <a:off x="6163056" y="1920240"/>
            <a:ext cx="2697480" cy="1005840"/>
          </a:xfrm>
          <a:prstGeom prst="rect">
            <a:avLst/>
          </a:prstGeom>
          <a:noFill/>
          <a:ln/>
        </p:spPr>
        <p:txBody>
          <a:bodyPr wrap="square" lIns="0" tIns="0" rIns="0" bIns="0" rtlCol="0" anchor="b"/>
          <a:lstStyle/>
          <a:p>
            <a:pPr indent="0" marL="0">
              <a:buNone/>
            </a:pPr>
            <a:r>
              <a:rPr lang="en-US" sz="4000" b="1" dirty="0">
                <a:solidFill>
                  <a:schemeClr val="bg1"/>
                </a:solidFill>
              </a:rPr>
              <a:t>68→100%</a:t>
            </a:r>
            <a:endParaRPr lang="en-US" sz="4000" dirty="0"/>
          </a:p>
        </p:txBody>
      </p:sp>
      <p:sp>
        <p:nvSpPr>
          <p:cNvPr id="10" name="Text 7"/>
          <p:cNvSpPr txBox="1"/>
          <p:nvPr/>
        </p:nvSpPr>
        <p:spPr>
          <a:xfrm>
            <a:off x="6163056" y="3063240"/>
            <a:ext cx="2606040" cy="1097280"/>
          </a:xfrm>
          <a:prstGeom prst="rect">
            <a:avLst/>
          </a:prstGeom>
          <a:noFill/>
          <a:ln/>
        </p:spPr>
        <p:txBody>
          <a:bodyPr wrap="square" lIns="0" tIns="0" rIns="0" bIns="0" rtlCol="0" anchor="t"/>
          <a:lstStyle/>
          <a:p>
            <a:pPr indent="0" marL="0">
              <a:lnSpc>
                <a:spcPct val="115000"/>
              </a:lnSpc>
              <a:buNone/>
            </a:pPr>
            <a:r>
              <a:rPr lang="en-US" sz="1400" dirty="0">
                <a:solidFill>
                  <a:srgbClr val="BFD0E0"/>
                </a:solidFill>
              </a:rPr>
              <a:t>말투 교정 후 반말 비율</a:t>
            </a:r>
            <a:endParaRPr lang="en-US" sz="1400" dirty="0"/>
          </a:p>
          <a:p>
            <a:pPr indent="0" marL="0">
              <a:lnSpc>
                <a:spcPct val="115000"/>
              </a:lnSpc>
              <a:buNone/>
            </a:pPr>
            <a:r>
              <a:rPr lang="en-US" sz="1400" dirty="0">
                <a:solidFill>
                  <a:srgbClr val="BFD0E0"/>
                </a:solidFill>
              </a:rPr>
              <a:t>(같은 질문 6개)</a:t>
            </a:r>
            <a:endParaRPr lang="en-US" sz="1400" dirty="0"/>
          </a:p>
        </p:txBody>
      </p:sp>
      <p:sp>
        <p:nvSpPr>
          <p:cNvPr id="11" name="Text 8"/>
          <p:cNvSpPr txBox="1"/>
          <p:nvPr/>
        </p:nvSpPr>
        <p:spPr>
          <a:xfrm>
            <a:off x="8970264" y="1920240"/>
            <a:ext cx="2697480" cy="1005840"/>
          </a:xfrm>
          <a:prstGeom prst="rect">
            <a:avLst/>
          </a:prstGeom>
          <a:noFill/>
          <a:ln/>
        </p:spPr>
        <p:txBody>
          <a:bodyPr wrap="square" lIns="0" tIns="0" rIns="0" bIns="0" rtlCol="0" anchor="b"/>
          <a:lstStyle/>
          <a:p>
            <a:pPr indent="0" marL="0">
              <a:buNone/>
            </a:pPr>
            <a:r>
              <a:rPr lang="en-US" sz="4000" b="1" dirty="0">
                <a:solidFill>
                  <a:schemeClr val="bg1"/>
                </a:solidFill>
              </a:rPr>
              <a:t>2,879</a:t>
            </a:r>
            <a:endParaRPr lang="en-US" sz="4000" dirty="0"/>
          </a:p>
        </p:txBody>
      </p:sp>
      <p:sp>
        <p:nvSpPr>
          <p:cNvPr id="12" name="Text 9"/>
          <p:cNvSpPr txBox="1"/>
          <p:nvPr/>
        </p:nvSpPr>
        <p:spPr>
          <a:xfrm>
            <a:off x="8970264" y="3063240"/>
            <a:ext cx="2606040" cy="1097280"/>
          </a:xfrm>
          <a:prstGeom prst="rect">
            <a:avLst/>
          </a:prstGeom>
          <a:noFill/>
          <a:ln/>
        </p:spPr>
        <p:txBody>
          <a:bodyPr wrap="square" lIns="0" tIns="0" rIns="0" bIns="0" rtlCol="0" anchor="t"/>
          <a:lstStyle/>
          <a:p>
            <a:pPr indent="0" marL="0">
              <a:lnSpc>
                <a:spcPct val="115000"/>
              </a:lnSpc>
              <a:buNone/>
            </a:pPr>
            <a:r>
              <a:rPr lang="en-US" sz="1400" dirty="0">
                <a:solidFill>
                  <a:srgbClr val="BFD0E0"/>
                </a:solidFill>
              </a:rPr>
              <a:t>자연 발생 판단 짝</a:t>
            </a:r>
            <a:endParaRPr lang="en-US" sz="1400" dirty="0"/>
          </a:p>
          <a:p>
            <a:pPr indent="0" marL="0">
              <a:lnSpc>
                <a:spcPct val="115000"/>
              </a:lnSpc>
              <a:buNone/>
            </a:pPr>
            <a:r>
              <a:rPr lang="en-US" sz="1400" dirty="0">
                <a:solidFill>
                  <a:srgbClr val="BFD0E0"/>
                </a:solidFill>
              </a:rPr>
              <a:t>(직전 AI 발화 → 내 답)</a:t>
            </a:r>
            <a:endParaRPr lang="en-US" sz="1400" dirty="0"/>
          </a:p>
        </p:txBody>
      </p:sp>
      <p:sp>
        <p:nvSpPr>
          <p:cNvPr id="13" name="Text 10"/>
          <p:cNvSpPr txBox="1"/>
          <p:nvPr/>
        </p:nvSpPr>
        <p:spPr>
          <a:xfrm>
            <a:off x="548640" y="4754880"/>
            <a:ext cx="11091672" cy="822960"/>
          </a:xfrm>
          <a:prstGeom prst="rect">
            <a:avLst/>
          </a:prstGeom>
          <a:noFill/>
          <a:ln/>
        </p:spPr>
        <p:txBody>
          <a:bodyPr wrap="square" lIns="0" tIns="0" rIns="0" bIns="0" rtlCol="0" anchor="t"/>
          <a:lstStyle/>
          <a:p>
            <a:pPr indent="0" marL="0">
              <a:buNone/>
            </a:pPr>
            <a:r>
              <a:rPr lang="en-US" sz="1600" dirty="0">
                <a:solidFill>
                  <a:schemeClr val="bg1"/>
                </a:solidFill>
              </a:rPr>
              <a:t>일치(sync): </a:t>
            </a:r>
            <a:pPr indent="0" marL="0">
              <a:buNone/>
            </a:pPr>
            <a:r>
              <a:rPr lang="en-US" sz="1600" b="1" dirty="0">
                <a:solidFill>
                  <a:schemeClr val="accent4"/>
                </a:solidFill>
              </a:rPr>
              <a:t>측정 불가</a:t>
            </a:r>
            <a:pPr indent="0" marL="0">
              <a:buNone/>
            </a:pPr>
            <a:r>
              <a:rPr lang="en-US" sz="1600" dirty="0">
                <a:solidFill>
                  <a:srgbClr val="E9EEF3"/>
                </a:solidFill>
              </a:rPr>
              <a:t> — 직접 입력한 판단 사례가 아직 없고, 재검사·블라인드 수집이 없다. 모두 소표본·단일 모델의 예비 관찰이며 일반화하지 않는다.</a:t>
            </a:r>
            <a:endParaRPr lang="en-US" sz="16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B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5 · 공개 인물 11명</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78문항 중 수집 원문에서 확인된 답</a:t>
            </a:r>
            <a:endParaRPr lang="en-US" sz="3000" dirty="0"/>
          </a:p>
        </p:txBody>
      </p:sp>
      <p:graphicFrame>
        <p:nvGraphicFramePr>
          <p:cNvPr id="5" name="Chart 0" descr=""/>
          <p:cNvGraphicFramePr/>
          <p:nvPr/>
        </p:nvGraphicFramePr>
        <p:xfrm>
          <a:off x="548640" y="1554480"/>
          <a:ext cx="7589520" cy="4526280"/>
        </p:xfrm>
        <a:graphic xmlns:a="http://schemas.openxmlformats.org/drawingml/2006/main">
          <a:graphicData uri="http://schemas.openxmlformats.org/drawingml/2006/chart">
            <c:chart xmlns:c="http://schemas.openxmlformats.org/drawingml/2006/chart" r:id="rId1"/>
          </a:graphicData>
        </a:graphic>
      </p:graphicFrame>
      <p:sp>
        <p:nvSpPr>
          <p:cNvPr id="6" name="card 읽는 법"/>
          <p:cNvSpPr/>
          <p:nvPr/>
        </p:nvSpPr>
        <p:spPr>
          <a:xfrm>
            <a:off x="8412480" y="1691640"/>
            <a:ext cx="3227832" cy="4251960"/>
          </a:xfrm>
          <a:prstGeom prst="roundRect">
            <a:avLst>
              <a:gd name="adj" fmla="val 2266"/>
            </a:avLst>
          </a:prstGeom>
          <a:solidFill>
            <a:schemeClr val="bg2"/>
          </a:solidFill>
          <a:ln w="12700">
            <a:solidFill>
              <a:schemeClr val="bg2"/>
            </a:solidFill>
            <a:prstDash val="solid"/>
          </a:ln>
        </p:spPr>
      </p:sp>
      <p:sp>
        <p:nvSpPr>
          <p:cNvPr id="7" name="Text 3"/>
          <p:cNvSpPr txBox="1"/>
          <p:nvPr/>
        </p:nvSpPr>
        <p:spPr>
          <a:xfrm>
            <a:off x="8641080" y="1892808"/>
            <a:ext cx="2770632" cy="411480"/>
          </a:xfrm>
          <a:prstGeom prst="rect">
            <a:avLst/>
          </a:prstGeom>
          <a:noFill/>
          <a:ln/>
        </p:spPr>
        <p:txBody>
          <a:bodyPr wrap="square" lIns="0" tIns="0" rIns="0" bIns="0" rtlCol="0" anchor="t"/>
          <a:lstStyle/>
          <a:p>
            <a:pPr indent="0" marL="0">
              <a:buNone/>
            </a:pPr>
            <a:r>
              <a:rPr lang="en-US" sz="1800" b="1" dirty="0">
                <a:solidFill>
                  <a:schemeClr val="tx2"/>
                </a:solidFill>
              </a:rPr>
              <a:t>읽는 법</a:t>
            </a:r>
            <a:endParaRPr lang="en-US" sz="1800" dirty="0"/>
          </a:p>
        </p:txBody>
      </p:sp>
      <p:sp>
        <p:nvSpPr>
          <p:cNvPr id="8" name="Text 4"/>
          <p:cNvSpPr txBox="1"/>
          <p:nvPr/>
        </p:nvSpPr>
        <p:spPr>
          <a:xfrm>
            <a:off x="8641080" y="2377440"/>
            <a:ext cx="2770632" cy="3383280"/>
          </a:xfrm>
          <a:prstGeom prst="rect">
            <a:avLst/>
          </a:prstGeom>
          <a:noFill/>
          <a:ln/>
        </p:spPr>
        <p:txBody>
          <a:bodyPr wrap="square" lIns="0" tIns="0" rIns="0" bIns="0" rtlCol="0" anchor="t"/>
          <a:lstStyle/>
          <a:p>
            <a:pPr indent="0" marL="0">
              <a:lnSpc>
                <a:spcPct val="115000"/>
              </a:lnSpc>
              <a:buNone/>
            </a:pPr>
            <a:r>
              <a:rPr lang="en-US" sz="1300" dirty="0">
                <a:solidFill>
                  <a:schemeClr val="tx1"/>
                </a:solidFill>
              </a:rPr>
              <a:t>• 짙은 막대: 평가 포함 기준 20(제안값) 이상</a:t>
            </a:r>
            <a:endParaRPr lang="en-US" sz="1300" dirty="0"/>
          </a:p>
          <a:p>
            <a:pPr indent="0" marL="0">
              <a:lnSpc>
                <a:spcPct val="115000"/>
              </a:lnSpc>
              <a:buNone/>
            </a:pPr>
            <a:r>
              <a:rPr lang="en-US" sz="1300" dirty="0">
                <a:solidFill>
                  <a:schemeClr val="tx1"/>
                </a:solidFill>
              </a:rPr>
              <a:t>• 밝은 막대: 자료 부족, 블라인드 평가에서 제외</a:t>
            </a:r>
            <a:endParaRPr lang="en-US" sz="1300" dirty="0"/>
          </a:p>
          <a:p>
            <a:pPr indent="0" marL="0">
              <a:lnSpc>
                <a:spcPct val="115000"/>
              </a:lnSpc>
              <a:buNone/>
            </a:pPr>
            <a:r>
              <a:rPr lang="en-US" sz="1300" dirty="0">
                <a:solidFill>
                  <a:schemeClr val="tx1"/>
                </a:solidFill>
              </a:rPr>
              <a:t>• 이순신 0건: 한문 원문 8건을 모았지만 판정이 알아보지 못함(추정)</a:t>
            </a:r>
            <a:endParaRPr lang="en-US" sz="1300" dirty="0"/>
          </a:p>
          <a:p>
            <a:pPr indent="0" marL="0">
              <a:lnSpc>
                <a:spcPct val="115000"/>
              </a:lnSpc>
              <a:buNone/>
            </a:pPr>
            <a:r>
              <a:rPr lang="en-US" sz="1300" dirty="0">
                <a:solidFill>
                  <a:schemeClr val="tx1"/>
                </a:solidFill>
              </a:rPr>
              <a:t>• *세종은 사람이 작성한 근거</a:t>
            </a:r>
            <a:endParaRPr lang="en-US" sz="1300" dirty="0"/>
          </a:p>
          <a:p>
            <a:pPr indent="0" marL="0">
              <a:lnSpc>
                <a:spcPct val="115000"/>
              </a:lnSpc>
              <a:buNone/>
            </a:pPr>
            <a:r>
              <a:rPr lang="en-US" sz="1300" dirty="0">
                <a:solidFill>
                  <a:schemeClr val="tx1"/>
                </a:solidFill>
              </a:rPr>
              <a:t>• 커버리지일 뿐 정확도가 아님. 자료 양(4~115문서)이 달라 인물 간 비교 불가</a:t>
            </a:r>
            <a:endParaRPr lang="en-US" sz="13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5 · 관찰에서 배운 것</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수치는 판정 설계에 민감하다</a:t>
            </a:r>
            <a:endParaRPr lang="en-US" sz="3000" dirty="0"/>
          </a:p>
        </p:txBody>
      </p:sp>
      <p:sp>
        <p:nvSpPr>
          <p:cNvPr id="5" name="Text 2"/>
          <p:cNvSpPr txBox="1"/>
          <p:nvPr/>
        </p:nvSpPr>
        <p:spPr>
          <a:xfrm>
            <a:off x="548640" y="1691640"/>
            <a:ext cx="3291840" cy="1737360"/>
          </a:xfrm>
          <a:prstGeom prst="rect">
            <a:avLst/>
          </a:prstGeom>
          <a:noFill/>
          <a:ln/>
        </p:spPr>
        <p:txBody>
          <a:bodyPr wrap="square" lIns="0" tIns="0" rIns="0" bIns="0" rtlCol="0" anchor="t"/>
          <a:lstStyle/>
          <a:p>
            <a:pPr indent="0" marL="0">
              <a:buNone/>
            </a:pPr>
            <a:r>
              <a:rPr lang="en-US" sz="5400" b="1" dirty="0">
                <a:solidFill>
                  <a:schemeClr val="accent1"/>
                </a:solidFill>
              </a:rPr>
              <a:t>0 → 33</a:t>
            </a:r>
            <a:endParaRPr lang="en-US" sz="5400" dirty="0"/>
          </a:p>
          <a:p>
            <a:pPr indent="0" marL="0">
              <a:buNone/>
            </a:pPr>
            <a:r>
              <a:rPr lang="en-US" sz="1400" dirty="0">
                <a:solidFill>
                  <a:schemeClr val="tx1"/>
                </a:solidFill>
              </a:rPr>
              <a:t>판정 문구 하나를 바꾼 뒤 마르쿠스의 확인된 답</a:t>
            </a:r>
            <a:endParaRPr lang="en-US" sz="5400" dirty="0"/>
          </a:p>
        </p:txBody>
      </p:sp>
      <p:sp>
        <p:nvSpPr>
          <p:cNvPr id="6" name="card 판정 문구 하나: 0건 → 33건"/>
          <p:cNvSpPr/>
          <p:nvPr/>
        </p:nvSpPr>
        <p:spPr>
          <a:xfrm>
            <a:off x="4114800" y="1691640"/>
            <a:ext cx="7525512" cy="1737360"/>
          </a:xfrm>
          <a:prstGeom prst="roundRect">
            <a:avLst>
              <a:gd name="adj" fmla="val 4211"/>
            </a:avLst>
          </a:prstGeom>
          <a:solidFill>
            <a:schemeClr val="bg2"/>
          </a:solidFill>
          <a:ln w="12700">
            <a:solidFill>
              <a:schemeClr val="bg2"/>
            </a:solidFill>
            <a:prstDash val="solid"/>
          </a:ln>
        </p:spPr>
      </p:sp>
      <p:sp>
        <p:nvSpPr>
          <p:cNvPr id="7" name="Text 4"/>
          <p:cNvSpPr txBox="1"/>
          <p:nvPr/>
        </p:nvSpPr>
        <p:spPr>
          <a:xfrm>
            <a:off x="4343400" y="1892808"/>
            <a:ext cx="7068312" cy="411480"/>
          </a:xfrm>
          <a:prstGeom prst="rect">
            <a:avLst/>
          </a:prstGeom>
          <a:noFill/>
          <a:ln/>
        </p:spPr>
        <p:txBody>
          <a:bodyPr wrap="square" lIns="0" tIns="0" rIns="0" bIns="0" rtlCol="0" anchor="t"/>
          <a:lstStyle/>
          <a:p>
            <a:pPr indent="0" marL="0">
              <a:buNone/>
            </a:pPr>
            <a:r>
              <a:rPr lang="en-US" sz="1800" b="1" dirty="0">
                <a:solidFill>
                  <a:schemeClr val="tx2"/>
                </a:solidFill>
              </a:rPr>
              <a:t>판정 문구 하나: 0건 → 33건</a:t>
            </a:r>
            <a:endParaRPr lang="en-US" sz="1800" dirty="0"/>
          </a:p>
        </p:txBody>
      </p:sp>
      <p:sp>
        <p:nvSpPr>
          <p:cNvPr id="8" name="Text 5"/>
          <p:cNvSpPr txBox="1"/>
          <p:nvPr/>
        </p:nvSpPr>
        <p:spPr>
          <a:xfrm>
            <a:off x="4343400" y="2377440"/>
            <a:ext cx="7068312" cy="86868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『명상록』은 자기 자신에게 쓴 2인칭 글이다. “본인의 명시적인 답”만 인정하던 문구가 이를 모두 거부했다. 본인 저작용 문구로 바꾸자 확인된 답이 0에서 33이 됐다.</a:t>
            </a:r>
            <a:endParaRPr lang="en-US" sz="1500" dirty="0"/>
          </a:p>
        </p:txBody>
      </p:sp>
      <p:sp>
        <p:nvSpPr>
          <p:cNvPr id="9" name="card 너무 엄격한 근거 검색"/>
          <p:cNvSpPr/>
          <p:nvPr/>
        </p:nvSpPr>
        <p:spPr>
          <a:xfrm>
            <a:off x="4114800" y="3657600"/>
            <a:ext cx="7525512" cy="1737360"/>
          </a:xfrm>
          <a:prstGeom prst="roundRect">
            <a:avLst>
              <a:gd name="adj" fmla="val 4211"/>
            </a:avLst>
          </a:prstGeom>
          <a:solidFill>
            <a:schemeClr val="bg2"/>
          </a:solidFill>
          <a:ln w="12700">
            <a:solidFill>
              <a:schemeClr val="bg2"/>
            </a:solidFill>
            <a:prstDash val="solid"/>
          </a:ln>
        </p:spPr>
      </p:sp>
      <p:sp>
        <p:nvSpPr>
          <p:cNvPr id="10" name="Text 7"/>
          <p:cNvSpPr txBox="1"/>
          <p:nvPr/>
        </p:nvSpPr>
        <p:spPr>
          <a:xfrm>
            <a:off x="4343400" y="3858768"/>
            <a:ext cx="7068312" cy="411480"/>
          </a:xfrm>
          <a:prstGeom prst="rect">
            <a:avLst/>
          </a:prstGeom>
          <a:noFill/>
          <a:ln/>
        </p:spPr>
        <p:txBody>
          <a:bodyPr wrap="square" lIns="0" tIns="0" rIns="0" bIns="0" rtlCol="0" anchor="t"/>
          <a:lstStyle/>
          <a:p>
            <a:pPr indent="0" marL="0">
              <a:buNone/>
            </a:pPr>
            <a:r>
              <a:rPr lang="en-US" sz="1800" b="1" dirty="0">
                <a:solidFill>
                  <a:schemeClr val="tx2"/>
                </a:solidFill>
              </a:rPr>
              <a:t>너무 엄격한 근거 검색</a:t>
            </a:r>
            <a:endParaRPr lang="en-US" sz="1800" dirty="0"/>
          </a:p>
        </p:txBody>
      </p:sp>
      <p:sp>
        <p:nvSpPr>
          <p:cNvPr id="11" name="Text 8"/>
          <p:cNvSpPr txBox="1"/>
          <p:nvPr/>
        </p:nvSpPr>
        <p:spPr>
          <a:xfrm>
            <a:off x="4343400" y="4343400"/>
            <a:ext cx="7068312" cy="86868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투자자에게 “좋은 기업은 어떻게 알아보나요?”라고 물어도 “찾지 못했다”고 답했다. 분야 전문가 초안 + 인물 자료 합성으로 바꾸고, 근거가 없으면 “추정”으로 표시한다(효과는 아직 평가 전).</a:t>
            </a:r>
            <a:endParaRPr lang="en-US" sz="1500" dirty="0"/>
          </a:p>
        </p:txBody>
      </p:sp>
      <p:sp>
        <p:nvSpPr>
          <p:cNvPr id="12" name="Text 9"/>
          <p:cNvSpPr txBox="1"/>
          <p:nvPr/>
        </p:nvSpPr>
        <p:spPr>
          <a:xfrm>
            <a:off x="548640" y="3657600"/>
            <a:ext cx="3291840" cy="1737360"/>
          </a:xfrm>
          <a:prstGeom prst="rect">
            <a:avLst/>
          </a:prstGeom>
          <a:noFill/>
          <a:ln/>
        </p:spPr>
        <p:txBody>
          <a:bodyPr wrap="square" lIns="0" tIns="0" rIns="0" bIns="0" rtlCol="0" anchor="t"/>
          <a:lstStyle/>
          <a:p>
            <a:pPr indent="0" marL="0">
              <a:lnSpc>
                <a:spcPct val="115000"/>
              </a:lnSpc>
              <a:buNone/>
            </a:pPr>
            <a:r>
              <a:rPr lang="en-US" sz="1800" b="1" dirty="0">
                <a:solidFill>
                  <a:schemeClr val="tx2"/>
                </a:solidFill>
              </a:rPr>
              <a:t>함의</a:t>
            </a:r>
            <a:endParaRPr lang="en-US" sz="1800" dirty="0"/>
          </a:p>
          <a:p>
            <a:pPr indent="0" marL="0">
              <a:lnSpc>
                <a:spcPct val="115000"/>
              </a:lnSpc>
              <a:buNone/>
            </a:pPr>
            <a:r>
              <a:rPr lang="en-US" sz="1500" dirty="0">
                <a:solidFill>
                  <a:schemeClr val="tx1"/>
                </a:solidFill>
              </a:rPr>
              <a:t>확인된 답 수는 사람 검수로 정밀도·재현율을 잰 뒤에만 결과로 쓸 수 있다. 자료 양과도 비례하지 않는다.</a:t>
            </a:r>
            <a:endParaRPr lang="en-US" sz="18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5 · 직접 물어볼 수 없는 인물</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“그 사람이 맞다”를 층으로 나눠 잰다</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743200"/>
                <a:gridCol w="5879592"/>
                <a:gridCol w="2468880"/>
              </a:tblGrid>
              <a:tr h="0">
                <a:tc>
                  <a:txBody>
                    <a:bodyPr/>
                    <a:lstStyle/>
                    <a:p>
                      <a:pPr indent="0" marL="0">
                        <a:buNone/>
                      </a:pPr>
                      <a:r>
                        <a:rPr lang="en-US" sz="1500" b="1" dirty="0">
                          <a:solidFill>
                            <a:schemeClr val="tx2"/>
                          </a:solidFill>
                        </a:rPr>
                        <a:t>층</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묻는 것</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c>
                  <a:txBody>
                    <a:bodyPr/>
                    <a:lstStyle/>
                    <a:p>
                      <a:pPr indent="0" marL="0">
                        <a:buNone/>
                      </a:pPr>
                      <a:r>
                        <a:rPr lang="en-US" sz="1500" b="1" dirty="0">
                          <a:solidFill>
                            <a:schemeClr val="tx2"/>
                          </a:solidFill>
                        </a:rPr>
                        <a:t>상태</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2"/>
                    </a:solidFill>
                  </a:tcPr>
                </a:tc>
              </a:tr>
              <a:tr h="0">
                <a:tc>
                  <a:txBody>
                    <a:bodyPr/>
                    <a:lstStyle/>
                    <a:p>
                      <a:pPr indent="0" marL="0">
                        <a:buNone/>
                      </a:pPr>
                      <a:r>
                        <a:rPr lang="en-US" sz="1500" dirty="0">
                          <a:solidFill>
                            <a:schemeClr val="tx1"/>
                          </a:solidFill>
                        </a:rPr>
                        <a:t>E1 이름 가린 식별</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이름 없이 답만 보고 누구인지 알아보는가</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구현 (사람 평가 전)</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E3 보류 기록 복원</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감춘 실제 발언과 같은 입장으로 답하는가</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설계만</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E4 기록 없음 정직성</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기록에 없는 질문에 “찾지 못했다”고 하는가</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구현 (미측정)</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E5 출처 충실성</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답의 주장이 인용한 문단에 실제로 있는가</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구현 (미측정)</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r h="0">
                <a:tc>
                  <a:txBody>
                    <a:bodyPr/>
                    <a:lstStyle/>
                    <a:p>
                      <a:pPr indent="0" marL="0">
                        <a:buNone/>
                      </a:pPr>
                      <a:r>
                        <a:rPr lang="en-US" sz="1500" dirty="0">
                          <a:solidFill>
                            <a:schemeClr val="tx1"/>
                          </a:solidFill>
                        </a:rPr>
                        <a:t>E8 본인 일치</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본인의 보류 판단과 같은가 (생존자만)</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설계만</a:t>
                      </a:r>
                      <a:endParaRPr lang="en-US" sz="1500" dirty="0"/>
                    </a:p>
                  </a:txBody>
                  <a:tcPr marL="91440" marR="91440" marT="54864" marB="54864" anchor="ctr">
                    <a:lnL w="9525" cap="flat" cmpd="sng" algn="ctr">
                      <a:solidFill>
                        <a:srgbClr val="CFD6DE"/>
                      </a:solidFill>
                      <a:prstDash val="solid"/>
                      <a:round/>
                      <a:headEnd type="none" w="med" len="med"/>
                      <a:tailEnd type="none" w="med" len="med"/>
                    </a:lnL>
                    <a:lnR w="9525" cap="flat" cmpd="sng" algn="ctr">
                      <a:solidFill>
                        <a:srgbClr val="CFD6DE"/>
                      </a:solidFill>
                      <a:prstDash val="solid"/>
                      <a:round/>
                      <a:headEnd type="none" w="med" len="med"/>
                      <a:tailEnd type="none" w="med" len="med"/>
                    </a:lnR>
                    <a:lnT w="9525" cap="flat" cmpd="sng" algn="ctr">
                      <a:solidFill>
                        <a:srgbClr val="CFD6DE"/>
                      </a:solidFill>
                      <a:prstDash val="solid"/>
                      <a:round/>
                      <a:headEnd type="none" w="med" len="med"/>
                      <a:tailEnd type="none" w="med" len="med"/>
                    </a:lnT>
                    <a:lnB w="9525" cap="flat" cmpd="sng" algn="ctr">
                      <a:solidFill>
                        <a:srgbClr val="CFD6DE"/>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4069080"/>
            <a:ext cx="11091672" cy="82296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유명인은 일반 LLM이 이미 안다 → </a:t>
            </a:r>
            <a:pPr indent="0" marL="0">
              <a:lnSpc>
                <a:spcPct val="120000"/>
              </a:lnSpc>
              <a:buNone/>
            </a:pPr>
            <a:r>
              <a:rPr lang="en-US" sz="1600" b="1" dirty="0">
                <a:solidFill>
                  <a:schemeClr val="tx2"/>
                </a:solidFill>
              </a:rPr>
              <a:t>이름만 준 LLM(B0) 대비 증분</a:t>
            </a:r>
            <a:pPr indent="0" marL="0">
              <a:lnSpc>
                <a:spcPct val="120000"/>
              </a:lnSpc>
              <a:buNone/>
            </a:pPr>
            <a:r>
              <a:rPr lang="en-US" sz="1600" dirty="0">
                <a:solidFill>
                  <a:schemeClr val="tx1"/>
                </a:solidFill>
              </a:rPr>
              <a:t>만 자료의 기여로 본다. 하나의 “동일성 %”로 합치지 않는다. E1 세트: 6명 52문항, 판정 기준은 결과를 보기 전에 고정.</a:t>
            </a:r>
            <a:endParaRPr lang="en-US" sz="16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6 · 논의</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“똑같은 나”가 아니라 “내 기준의 1차 판단”</a:t>
            </a:r>
            <a:endParaRPr lang="en-US" sz="3000" dirty="0"/>
          </a:p>
        </p:txBody>
      </p:sp>
      <p:sp>
        <p:nvSpPr>
          <p:cNvPr id="5" name="card 필요성"/>
          <p:cNvSpPr/>
          <p:nvPr/>
        </p:nvSpPr>
        <p:spPr>
          <a:xfrm>
            <a:off x="548640" y="1691640"/>
            <a:ext cx="3520440" cy="2606040"/>
          </a:xfrm>
          <a:prstGeom prst="roundRect">
            <a:avLst>
              <a:gd name="adj" fmla="val 2807"/>
            </a:avLst>
          </a:prstGeom>
          <a:solidFill>
            <a:schemeClr val="bg2"/>
          </a:solidFill>
          <a:ln w="12700">
            <a:solidFill>
              <a:schemeClr val="bg2"/>
            </a:solidFill>
            <a:prstDash val="solid"/>
          </a:ln>
        </p:spPr>
      </p:sp>
      <p:sp>
        <p:nvSpPr>
          <p:cNvPr id="6" name="Text 3"/>
          <p:cNvSpPr txBox="1"/>
          <p:nvPr/>
        </p:nvSpPr>
        <p:spPr>
          <a:xfrm>
            <a:off x="777240" y="1892808"/>
            <a:ext cx="3063240" cy="411480"/>
          </a:xfrm>
          <a:prstGeom prst="rect">
            <a:avLst/>
          </a:prstGeom>
          <a:noFill/>
          <a:ln/>
        </p:spPr>
        <p:txBody>
          <a:bodyPr wrap="square" lIns="0" tIns="0" rIns="0" bIns="0" rtlCol="0" anchor="t"/>
          <a:lstStyle/>
          <a:p>
            <a:pPr indent="0" marL="0">
              <a:buNone/>
            </a:pPr>
            <a:r>
              <a:rPr lang="en-US" sz="2000" b="1" dirty="0">
                <a:solidFill>
                  <a:schemeClr val="tx2"/>
                </a:solidFill>
              </a:rPr>
              <a:t>필요성</a:t>
            </a:r>
            <a:endParaRPr lang="en-US" sz="2000" dirty="0"/>
          </a:p>
        </p:txBody>
      </p:sp>
      <p:sp>
        <p:nvSpPr>
          <p:cNvPr id="7" name="Text 4"/>
          <p:cNvSpPr txBox="1"/>
          <p:nvPr/>
        </p:nvSpPr>
        <p:spPr>
          <a:xfrm>
            <a:off x="777240" y="2377440"/>
            <a:ext cx="3063240" cy="173736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외형·지식·행동이 다 같은 아바타는 근거가 약하다. 부재 중 위임·인수인계·암묵지 보존은 필요가 분명하다.</a:t>
            </a:r>
            <a:endParaRPr lang="en-US" sz="1500" dirty="0"/>
          </a:p>
        </p:txBody>
      </p:sp>
      <p:sp>
        <p:nvSpPr>
          <p:cNvPr id="8" name="card 거부감"/>
          <p:cNvSpPr/>
          <p:nvPr/>
        </p:nvSpPr>
        <p:spPr>
          <a:xfrm>
            <a:off x="4336999" y="1691640"/>
            <a:ext cx="3520440" cy="2606040"/>
          </a:xfrm>
          <a:prstGeom prst="roundRect">
            <a:avLst>
              <a:gd name="adj" fmla="val 2807"/>
            </a:avLst>
          </a:prstGeom>
          <a:solidFill>
            <a:schemeClr val="bg2"/>
          </a:solidFill>
          <a:ln w="12700">
            <a:solidFill>
              <a:schemeClr val="bg2"/>
            </a:solidFill>
            <a:prstDash val="solid"/>
          </a:ln>
        </p:spPr>
      </p:sp>
      <p:sp>
        <p:nvSpPr>
          <p:cNvPr id="9" name="Text 6"/>
          <p:cNvSpPr txBox="1"/>
          <p:nvPr/>
        </p:nvSpPr>
        <p:spPr>
          <a:xfrm>
            <a:off x="4565599" y="1892808"/>
            <a:ext cx="3063240" cy="411480"/>
          </a:xfrm>
          <a:prstGeom prst="rect">
            <a:avLst/>
          </a:prstGeom>
          <a:noFill/>
          <a:ln/>
        </p:spPr>
        <p:txBody>
          <a:bodyPr wrap="square" lIns="0" tIns="0" rIns="0" bIns="0" rtlCol="0" anchor="t"/>
          <a:lstStyle/>
          <a:p>
            <a:pPr indent="0" marL="0">
              <a:buNone/>
            </a:pPr>
            <a:r>
              <a:rPr lang="en-US" sz="2000" b="1" dirty="0">
                <a:solidFill>
                  <a:schemeClr val="tx2"/>
                </a:solidFill>
              </a:rPr>
              <a:t>거부감</a:t>
            </a:r>
            <a:endParaRPr lang="en-US" sz="2000" dirty="0"/>
          </a:p>
        </p:txBody>
      </p:sp>
      <p:sp>
        <p:nvSpPr>
          <p:cNvPr id="10" name="Text 7"/>
          <p:cNvSpPr txBox="1"/>
          <p:nvPr/>
        </p:nvSpPr>
        <p:spPr>
          <a:xfrm>
            <a:off x="4565599" y="2377440"/>
            <a:ext cx="3063240" cy="173736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닮을수록 어색함, 내 이름으로 나간 말, 틀린 판단의 책임. 출처 구분·보류·리뷰가 가장 강한 차별점이다.</a:t>
            </a:r>
            <a:endParaRPr lang="en-US" sz="1500" dirty="0"/>
          </a:p>
        </p:txBody>
      </p:sp>
      <p:sp>
        <p:nvSpPr>
          <p:cNvPr id="11" name="card 범용 LLM 대비"/>
          <p:cNvSpPr/>
          <p:nvPr/>
        </p:nvSpPr>
        <p:spPr>
          <a:xfrm>
            <a:off x="8125358" y="1691640"/>
            <a:ext cx="3520440" cy="2606040"/>
          </a:xfrm>
          <a:prstGeom prst="roundRect">
            <a:avLst>
              <a:gd name="adj" fmla="val 2807"/>
            </a:avLst>
          </a:prstGeom>
          <a:solidFill>
            <a:schemeClr val="bg2"/>
          </a:solidFill>
          <a:ln w="12700">
            <a:solidFill>
              <a:schemeClr val="bg2"/>
            </a:solidFill>
            <a:prstDash val="solid"/>
          </a:ln>
        </p:spPr>
      </p:sp>
      <p:sp>
        <p:nvSpPr>
          <p:cNvPr id="12" name="Text 9"/>
          <p:cNvSpPr txBox="1"/>
          <p:nvPr/>
        </p:nvSpPr>
        <p:spPr>
          <a:xfrm>
            <a:off x="8353958" y="1892808"/>
            <a:ext cx="3063240" cy="411480"/>
          </a:xfrm>
          <a:prstGeom prst="rect">
            <a:avLst/>
          </a:prstGeom>
          <a:noFill/>
          <a:ln/>
        </p:spPr>
        <p:txBody>
          <a:bodyPr wrap="square" lIns="0" tIns="0" rIns="0" bIns="0" rtlCol="0" anchor="t"/>
          <a:lstStyle/>
          <a:p>
            <a:pPr indent="0" marL="0">
              <a:buNone/>
            </a:pPr>
            <a:r>
              <a:rPr lang="en-US" sz="2000" b="1" dirty="0">
                <a:solidFill>
                  <a:schemeClr val="tx2"/>
                </a:solidFill>
              </a:rPr>
              <a:t>범용 LLM 대비</a:t>
            </a:r>
            <a:endParaRPr lang="en-US" sz="2000" dirty="0"/>
          </a:p>
        </p:txBody>
      </p:sp>
      <p:sp>
        <p:nvSpPr>
          <p:cNvPr id="13" name="Text 10"/>
          <p:cNvSpPr txBox="1"/>
          <p:nvPr/>
        </p:nvSpPr>
        <p:spPr>
          <a:xfrm>
            <a:off x="8353958" y="2377440"/>
            <a:ext cx="3063240" cy="1737360"/>
          </a:xfrm>
          <a:prstGeom prst="rect">
            <a:avLst/>
          </a:prstGeom>
          <a:noFill/>
          <a:ln/>
        </p:spPr>
        <p:txBody>
          <a:bodyPr wrap="square" lIns="0" tIns="0" rIns="0" bIns="0" rtlCol="0" anchor="t"/>
          <a:lstStyle/>
          <a:p>
            <a:pPr indent="0" marL="0">
              <a:lnSpc>
                <a:spcPct val="115000"/>
              </a:lnSpc>
              <a:buNone/>
            </a:pPr>
            <a:r>
              <a:rPr lang="en-US" sz="1500" dirty="0">
                <a:solidFill>
                  <a:schemeClr val="tx1"/>
                </a:solidFill>
              </a:rPr>
              <a:t>지어낸 일화, 아는 척, 교과서 이미지로의 평균화. 낫다고 말하려면 E4·E5에서 B0와 비교해야 한다.</a:t>
            </a:r>
            <a:endParaRPr lang="en-US" sz="1500" dirty="0"/>
          </a:p>
        </p:txBody>
      </p:sp>
      <p:sp>
        <p:nvSpPr>
          <p:cNvPr id="14" name="Text 11"/>
          <p:cNvSpPr txBox="1"/>
          <p:nvPr/>
        </p:nvSpPr>
        <p:spPr>
          <a:xfrm>
            <a:off x="548640" y="4617720"/>
            <a:ext cx="11091672" cy="109728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암묵지의 경계: 말로 꺼낼 수 있는 기준·예외는 재현될 수 있지만, 현장 단서를 알아보는 지각적 판단은 어렵다(Polanyi). 결정 유형별 실패 사례로 그 경계를 보인다. 고인 서비스는 사업 가설로만 두고 논문 주장에서 제외한다.</a:t>
            </a:r>
            <a:endParaRPr lang="en-US" sz="16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6 · 한계와 윤리</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지금 주장할 수 없는 것</a:t>
            </a:r>
            <a:endParaRPr lang="en-US" sz="3000" dirty="0"/>
          </a:p>
        </p:txBody>
      </p:sp>
      <p:sp>
        <p:nvSpPr>
          <p:cNvPr id="5" name="card 방법의 한계"/>
          <p:cNvSpPr/>
          <p:nvPr/>
        </p:nvSpPr>
        <p:spPr>
          <a:xfrm>
            <a:off x="548640" y="1691640"/>
            <a:ext cx="5394960" cy="3566160"/>
          </a:xfrm>
          <a:prstGeom prst="roundRect">
            <a:avLst>
              <a:gd name="adj" fmla="val 2051"/>
            </a:avLst>
          </a:prstGeom>
          <a:solidFill>
            <a:schemeClr val="bg2"/>
          </a:solidFill>
          <a:ln w="12700">
            <a:solidFill>
              <a:schemeClr val="bg2"/>
            </a:solidFill>
            <a:prstDash val="solid"/>
          </a:ln>
        </p:spPr>
      </p:sp>
      <p:sp>
        <p:nvSpPr>
          <p:cNvPr id="6" name="Text 3"/>
          <p:cNvSpPr txBox="1"/>
          <p:nvPr/>
        </p:nvSpPr>
        <p:spPr>
          <a:xfrm>
            <a:off x="777240" y="1892808"/>
            <a:ext cx="4937760" cy="411480"/>
          </a:xfrm>
          <a:prstGeom prst="rect">
            <a:avLst/>
          </a:prstGeom>
          <a:noFill/>
          <a:ln/>
        </p:spPr>
        <p:txBody>
          <a:bodyPr wrap="square" lIns="0" tIns="0" rIns="0" bIns="0" rtlCol="0" anchor="t"/>
          <a:lstStyle/>
          <a:p>
            <a:pPr indent="0" marL="0">
              <a:buNone/>
            </a:pPr>
            <a:r>
              <a:rPr lang="en-US" sz="2000" b="1" dirty="0">
                <a:solidFill>
                  <a:schemeClr val="tx2"/>
                </a:solidFill>
              </a:rPr>
              <a:t>방법의 한계</a:t>
            </a:r>
            <a:endParaRPr lang="en-US" sz="2000" dirty="0"/>
          </a:p>
        </p:txBody>
      </p:sp>
      <p:sp>
        <p:nvSpPr>
          <p:cNvPr id="7" name="Text 4"/>
          <p:cNvSpPr txBox="1"/>
          <p:nvPr/>
        </p:nvSpPr>
        <p:spPr>
          <a:xfrm>
            <a:off x="777240" y="2377440"/>
            <a:ext cx="493776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N=1 사례 연구, 일반화하지 않는다</a:t>
            </a:r>
            <a:endParaRPr lang="en-US" sz="1600" dirty="0"/>
          </a:p>
          <a:p>
            <a:pPr marL="342900" indent="-342900">
              <a:spcAft>
                <a:spcPts val="1000"/>
              </a:spcAft>
              <a:buSzPct val="100000"/>
              <a:buChar char="•"/>
            </a:pPr>
            <a:r>
              <a:rPr lang="en-US" sz="1600" dirty="0">
                <a:solidFill>
                  <a:schemeClr val="tx1"/>
                </a:solidFill>
              </a:rPr>
              <a:t>연결 검사는 소형 모델 하나 · 합성 딜레마 4개</a:t>
            </a:r>
            <a:endParaRPr lang="en-US" sz="1600" dirty="0"/>
          </a:p>
          <a:p>
            <a:pPr marL="342900" indent="-342900">
              <a:spcAft>
                <a:spcPts val="1000"/>
              </a:spcAft>
              <a:buSzPct val="100000"/>
              <a:buChar char="•"/>
            </a:pPr>
            <a:r>
              <a:rPr lang="en-US" sz="1600" dirty="0">
                <a:solidFill>
                  <a:schemeClr val="tx1"/>
                </a:solidFill>
              </a:rPr>
              <a:t>자기보고는 실제 선택과 다를 수 있다</a:t>
            </a:r>
            <a:endParaRPr lang="en-US" sz="1600" dirty="0"/>
          </a:p>
          <a:p>
            <a:pPr marL="342900" indent="-342900">
              <a:spcAft>
                <a:spcPts val="1000"/>
              </a:spcAft>
              <a:buSzPct val="100000"/>
              <a:buChar char="•"/>
            </a:pPr>
            <a:r>
              <a:rPr lang="en-US" sz="1600" dirty="0">
                <a:solidFill>
                  <a:schemeClr val="tx1"/>
                </a:solidFill>
              </a:rPr>
              <a:t>자동 분류 정확도 약 70%</a:t>
            </a:r>
            <a:endParaRPr lang="en-US" sz="1600" dirty="0"/>
          </a:p>
        </p:txBody>
      </p:sp>
      <p:sp>
        <p:nvSpPr>
          <p:cNvPr id="8" name="card 윤리·안전"/>
          <p:cNvSpPr/>
          <p:nvPr/>
        </p:nvSpPr>
        <p:spPr>
          <a:xfrm>
            <a:off x="6245352" y="1691640"/>
            <a:ext cx="5394960" cy="3566160"/>
          </a:xfrm>
          <a:prstGeom prst="roundRect">
            <a:avLst>
              <a:gd name="adj" fmla="val 2051"/>
            </a:avLst>
          </a:prstGeom>
          <a:solidFill>
            <a:schemeClr val="bg2"/>
          </a:solidFill>
          <a:ln w="12700">
            <a:solidFill>
              <a:schemeClr val="bg2"/>
            </a:solidFill>
            <a:prstDash val="solid"/>
          </a:ln>
        </p:spPr>
      </p:sp>
      <p:sp>
        <p:nvSpPr>
          <p:cNvPr id="9" name="Text 6"/>
          <p:cNvSpPr txBox="1"/>
          <p:nvPr/>
        </p:nvSpPr>
        <p:spPr>
          <a:xfrm>
            <a:off x="6473952" y="1892808"/>
            <a:ext cx="4937760" cy="411480"/>
          </a:xfrm>
          <a:prstGeom prst="rect">
            <a:avLst/>
          </a:prstGeom>
          <a:noFill/>
          <a:ln/>
        </p:spPr>
        <p:txBody>
          <a:bodyPr wrap="square" lIns="0" tIns="0" rIns="0" bIns="0" rtlCol="0" anchor="t"/>
          <a:lstStyle/>
          <a:p>
            <a:pPr indent="0" marL="0">
              <a:buNone/>
            </a:pPr>
            <a:r>
              <a:rPr lang="en-US" sz="2000" b="1" dirty="0">
                <a:solidFill>
                  <a:schemeClr val="tx2"/>
                </a:solidFill>
              </a:rPr>
              <a:t>윤리·안전</a:t>
            </a:r>
            <a:endParaRPr lang="en-US" sz="2000" dirty="0"/>
          </a:p>
        </p:txBody>
      </p:sp>
      <p:sp>
        <p:nvSpPr>
          <p:cNvPr id="10" name="Text 7"/>
          <p:cNvSpPr txBox="1"/>
          <p:nvPr/>
        </p:nvSpPr>
        <p:spPr>
          <a:xfrm>
            <a:off x="6473952" y="2377440"/>
            <a:ext cx="493776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항상 AI임을 표시하고 즉시 중지할 수 있어야 한다</a:t>
            </a:r>
            <a:endParaRPr lang="en-US" sz="1600" dirty="0"/>
          </a:p>
          <a:p>
            <a:pPr marL="342900" indent="-342900">
              <a:spcAft>
                <a:spcPts val="1000"/>
              </a:spcAft>
              <a:buSzPct val="100000"/>
              <a:buChar char="•"/>
            </a:pPr>
            <a:r>
              <a:rPr lang="en-US" sz="1600" dirty="0">
                <a:solidFill>
                  <a:schemeClr val="tx1"/>
                </a:solidFill>
              </a:rPr>
              <a:t>외부 발송·결제 같은 행동은 연결하지 않았다</a:t>
            </a:r>
            <a:endParaRPr lang="en-US" sz="1600" dirty="0"/>
          </a:p>
          <a:p>
            <a:pPr marL="342900" indent="-342900">
              <a:spcAft>
                <a:spcPts val="1000"/>
              </a:spcAft>
              <a:buSzPct val="100000"/>
              <a:buChar char="•"/>
            </a:pPr>
            <a:r>
              <a:rPr lang="en-US" sz="1600" dirty="0">
                <a:solidFill>
                  <a:schemeClr val="tx1"/>
                </a:solidFill>
              </a:rPr>
              <a:t>대화 기록의 제3자 정보는 비식별화가 필요하다</a:t>
            </a:r>
            <a:endParaRPr lang="en-US" sz="1600" dirty="0"/>
          </a:p>
          <a:p>
            <a:pPr marL="342900" indent="-342900">
              <a:spcAft>
                <a:spcPts val="1000"/>
              </a:spcAft>
              <a:buSzPct val="100000"/>
              <a:buChar char="•"/>
            </a:pPr>
            <a:r>
              <a:rPr lang="en-US" sz="1600" dirty="0">
                <a:solidFill>
                  <a:schemeClr val="tx1"/>
                </a:solidFill>
              </a:rPr>
              <a:t>공개 인물은 텍스트 전용 또는 비식별 가상 모습만</a:t>
            </a:r>
            <a:endParaRPr lang="en-US" sz="1600" dirty="0"/>
          </a:p>
        </p:txBody>
      </p:sp>
      <p:sp>
        <p:nvSpPr>
          <p:cNvPr id="11" name="Text 8"/>
          <p:cNvSpPr txBox="1"/>
          <p:nvPr/>
        </p:nvSpPr>
        <p:spPr>
          <a:xfrm>
            <a:off x="548640" y="5577840"/>
            <a:ext cx="11091672" cy="274320"/>
          </a:xfrm>
          <a:prstGeom prst="rect">
            <a:avLst/>
          </a:prstGeom>
          <a:noFill/>
          <a:ln/>
        </p:spPr>
        <p:txBody>
          <a:bodyPr wrap="square" lIns="0" tIns="0" rIns="0" bIns="0" rtlCol="0" anchor="ctr"/>
          <a:lstStyle/>
          <a:p>
            <a:pPr indent="0" marL="0">
              <a:buNone/>
            </a:pPr>
            <a:r>
              <a:rPr lang="en-US" sz="1100" dirty="0">
                <a:solidFill>
                  <a:srgbClr val="6B7785"/>
                </a:solidFill>
              </a:rPr>
              <a:t>이용 범위 정책은 법적 안전을 보장하지 않으며 법률 검토 전이다.</a:t>
            </a:r>
            <a:endParaRPr lang="en-US" sz="11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92608"/>
          </a:xfrm>
          <a:prstGeom prst="rect">
            <a:avLst/>
          </a:prstGeom>
          <a:noFill/>
          <a:ln/>
        </p:spPr>
        <p:txBody>
          <a:bodyPr wrap="square" lIns="0" tIns="0" rIns="0" bIns="0" rtlCol="0"/>
          <a:lstStyle/>
          <a:p>
            <a:pPr indent="0" marL="0">
              <a:buNone/>
            </a:pPr>
            <a:r>
              <a:rPr lang="en-US" sz="1200" b="1" spc="200" kern="0" dirty="0">
                <a:solidFill>
                  <a:schemeClr val="accent2"/>
                </a:solidFill>
              </a:rPr>
              <a:t>6 · 다음 관문</a:t>
            </a:r>
            <a:endParaRPr lang="en-US" sz="1200" dirty="0"/>
          </a:p>
        </p:txBody>
      </p:sp>
      <p:sp>
        <p:nvSpPr>
          <p:cNvPr id="3" name="Text 0"/>
          <p:cNvSpPr/>
          <p:nvPr>
            <p:ph idx="101" type="title" hasCustomPrompt="1"/>
          </p:nvPr>
        </p:nvSpPr>
        <p:spPr>
          <a:xfrm>
            <a:off x="548640" y="694944"/>
            <a:ext cx="11091672" cy="731520"/>
          </a:xfrm>
          <a:prstGeom prst="rect">
            <a:avLst/>
          </a:prstGeom>
          <a:noFill/>
          <a:ln/>
        </p:spPr>
        <p:txBody>
          <a:bodyPr wrap="square" lIns="0" tIns="0" rIns="0" bIns="0" rtlCol="0" anchor="t"/>
          <a:lstStyle/>
          <a:p>
            <a:pPr algn="l" indent="0" marL="0">
              <a:buNone/>
            </a:pPr>
            <a:r>
              <a:rPr lang="en-US" sz="3000" b="1" dirty="0">
                <a:solidFill>
                  <a:schemeClr val="tx2"/>
                </a:solidFill>
              </a:rPr>
              <a:t>결과 논문까지 다섯 단계</a:t>
            </a:r>
            <a:endParaRPr lang="en-US" sz="3000" dirty="0"/>
          </a:p>
        </p:txBody>
      </p:sp>
      <p:sp>
        <p:nvSpPr>
          <p:cNvPr id="5" name="gate 1"/>
          <p:cNvSpPr/>
          <p:nvPr/>
        </p:nvSpPr>
        <p:spPr>
          <a:xfrm>
            <a:off x="548640" y="1691640"/>
            <a:ext cx="2057400" cy="2834640"/>
          </a:xfrm>
          <a:prstGeom prst="roundRect">
            <a:avLst>
              <a:gd name="adj" fmla="val 3556"/>
            </a:avLst>
          </a:prstGeom>
          <a:solidFill>
            <a:schemeClr val="tx2"/>
          </a:solidFill>
          <a:ln w="12700">
            <a:solidFill>
              <a:schemeClr val="tx2"/>
            </a:solidFill>
            <a:prstDash val="solid"/>
          </a:ln>
        </p:spPr>
      </p:sp>
      <p:sp>
        <p:nvSpPr>
          <p:cNvPr id="6" name="Text 3"/>
          <p:cNvSpPr txBox="1"/>
          <p:nvPr/>
        </p:nvSpPr>
        <p:spPr>
          <a:xfrm>
            <a:off x="749808" y="1828800"/>
            <a:ext cx="914400" cy="731520"/>
          </a:xfrm>
          <a:prstGeom prst="rect">
            <a:avLst/>
          </a:prstGeom>
          <a:noFill/>
          <a:ln/>
        </p:spPr>
        <p:txBody>
          <a:bodyPr wrap="square" lIns="0" tIns="0" rIns="0" bIns="0" rtlCol="0" anchor="ctr"/>
          <a:lstStyle/>
          <a:p>
            <a:pPr indent="0" marL="0">
              <a:buNone/>
            </a:pPr>
            <a:r>
              <a:rPr lang="en-US" sz="3600" b="1" dirty="0">
                <a:solidFill>
                  <a:schemeClr val="accent4"/>
                </a:solidFill>
              </a:rPr>
              <a:t>1</a:t>
            </a:r>
            <a:endParaRPr lang="en-US" sz="3600" dirty="0"/>
          </a:p>
        </p:txBody>
      </p:sp>
      <p:sp>
        <p:nvSpPr>
          <p:cNvPr id="7" name="Text 4"/>
          <p:cNvSpPr txBox="1"/>
          <p:nvPr/>
        </p:nvSpPr>
        <p:spPr>
          <a:xfrm>
            <a:off x="749808" y="2606040"/>
            <a:ext cx="1691640" cy="457200"/>
          </a:xfrm>
          <a:prstGeom prst="rect">
            <a:avLst/>
          </a:prstGeom>
          <a:noFill/>
          <a:ln/>
        </p:spPr>
        <p:txBody>
          <a:bodyPr wrap="square" lIns="0" tIns="0" rIns="0" bIns="0" rtlCol="0" anchor="ctr"/>
          <a:lstStyle/>
          <a:p>
            <a:pPr indent="0" marL="0">
              <a:buNone/>
            </a:pPr>
            <a:r>
              <a:rPr lang="en-US" sz="1800" b="1" dirty="0">
                <a:solidFill>
                  <a:schemeClr val="bg1"/>
                </a:solidFill>
              </a:rPr>
              <a:t>범위 동결</a:t>
            </a:r>
            <a:endParaRPr lang="en-US" sz="1800" dirty="0"/>
          </a:p>
        </p:txBody>
      </p:sp>
      <p:sp>
        <p:nvSpPr>
          <p:cNvPr id="8" name="Text 5"/>
          <p:cNvSpPr txBox="1"/>
          <p:nvPr/>
        </p:nvSpPr>
        <p:spPr>
          <a:xfrm>
            <a:off x="749808" y="3108960"/>
            <a:ext cx="1691640" cy="1280160"/>
          </a:xfrm>
          <a:prstGeom prst="rect">
            <a:avLst/>
          </a:prstGeom>
          <a:noFill/>
          <a:ln/>
        </p:spPr>
        <p:txBody>
          <a:bodyPr wrap="square" lIns="0" tIns="0" rIns="0" bIns="0" rtlCol="0" anchor="t"/>
          <a:lstStyle/>
          <a:p>
            <a:pPr indent="0" marL="0">
              <a:buNone/>
            </a:pPr>
            <a:r>
              <a:rPr lang="en-US" sz="1400" dirty="0">
                <a:solidFill>
                  <a:srgbClr val="BFD0E0"/>
                </a:solidFill>
              </a:rPr>
              <a:t>RQ2 중심, 가설·실패 기준 사전 등록</a:t>
            </a:r>
            <a:endParaRPr lang="en-US" sz="1400" dirty="0"/>
          </a:p>
        </p:txBody>
      </p:sp>
      <p:sp>
        <p:nvSpPr>
          <p:cNvPr id="9" name="gate 2"/>
          <p:cNvSpPr/>
          <p:nvPr/>
        </p:nvSpPr>
        <p:spPr>
          <a:xfrm>
            <a:off x="2802636" y="1691640"/>
            <a:ext cx="2057400" cy="2834640"/>
          </a:xfrm>
          <a:prstGeom prst="roundRect">
            <a:avLst>
              <a:gd name="adj" fmla="val 3556"/>
            </a:avLst>
          </a:prstGeom>
          <a:solidFill>
            <a:schemeClr val="tx2"/>
          </a:solidFill>
          <a:ln w="12700">
            <a:solidFill>
              <a:schemeClr val="tx2"/>
            </a:solidFill>
            <a:prstDash val="solid"/>
          </a:ln>
        </p:spPr>
      </p:sp>
      <p:sp>
        <p:nvSpPr>
          <p:cNvPr id="10" name="Text 7"/>
          <p:cNvSpPr txBox="1"/>
          <p:nvPr/>
        </p:nvSpPr>
        <p:spPr>
          <a:xfrm>
            <a:off x="3003804" y="1828800"/>
            <a:ext cx="914400" cy="731520"/>
          </a:xfrm>
          <a:prstGeom prst="rect">
            <a:avLst/>
          </a:prstGeom>
          <a:noFill/>
          <a:ln/>
        </p:spPr>
        <p:txBody>
          <a:bodyPr wrap="square" lIns="0" tIns="0" rIns="0" bIns="0" rtlCol="0" anchor="ctr"/>
          <a:lstStyle/>
          <a:p>
            <a:pPr indent="0" marL="0">
              <a:buNone/>
            </a:pPr>
            <a:r>
              <a:rPr lang="en-US" sz="3600" b="1" dirty="0">
                <a:solidFill>
                  <a:schemeClr val="accent4"/>
                </a:solidFill>
              </a:rPr>
              <a:t>2</a:t>
            </a:r>
            <a:endParaRPr lang="en-US" sz="3600" dirty="0"/>
          </a:p>
        </p:txBody>
      </p:sp>
      <p:sp>
        <p:nvSpPr>
          <p:cNvPr id="11" name="Text 8"/>
          <p:cNvSpPr txBox="1"/>
          <p:nvPr/>
        </p:nvSpPr>
        <p:spPr>
          <a:xfrm>
            <a:off x="3003804" y="2606040"/>
            <a:ext cx="1691640" cy="457200"/>
          </a:xfrm>
          <a:prstGeom prst="rect">
            <a:avLst/>
          </a:prstGeom>
          <a:noFill/>
          <a:ln/>
        </p:spPr>
        <p:txBody>
          <a:bodyPr wrap="square" lIns="0" tIns="0" rIns="0" bIns="0" rtlCol="0" anchor="ctr"/>
          <a:lstStyle/>
          <a:p>
            <a:pPr indent="0" marL="0">
              <a:buNone/>
            </a:pPr>
            <a:r>
              <a:rPr lang="en-US" sz="1800" b="1" dirty="0">
                <a:solidFill>
                  <a:schemeClr val="bg1"/>
                </a:solidFill>
              </a:rPr>
              <a:t>보류 시험셋</a:t>
            </a:r>
            <a:endParaRPr lang="en-US" sz="1800" dirty="0"/>
          </a:p>
        </p:txBody>
      </p:sp>
      <p:sp>
        <p:nvSpPr>
          <p:cNvPr id="12" name="Text 9"/>
          <p:cNvSpPr txBox="1"/>
          <p:nvPr/>
        </p:nvSpPr>
        <p:spPr>
          <a:xfrm>
            <a:off x="3003804" y="3108960"/>
            <a:ext cx="1691640" cy="1280160"/>
          </a:xfrm>
          <a:prstGeom prst="rect">
            <a:avLst/>
          </a:prstGeom>
          <a:noFill/>
          <a:ln/>
        </p:spPr>
        <p:txBody>
          <a:bodyPr wrap="square" lIns="0" tIns="0" rIns="0" bIns="0" rtlCol="0" anchor="t"/>
          <a:lstStyle/>
          <a:p>
            <a:pPr indent="0" marL="0">
              <a:buNone/>
            </a:pPr>
            <a:r>
              <a:rPr lang="en-US" sz="1400" dirty="0">
                <a:solidFill>
                  <a:srgbClr val="BFD0E0"/>
                </a:solidFill>
              </a:rPr>
              <a:t>먼저 봉인, n≥100, 누출 점검</a:t>
            </a:r>
            <a:endParaRPr lang="en-US" sz="1400" dirty="0"/>
          </a:p>
        </p:txBody>
      </p:sp>
      <p:sp>
        <p:nvSpPr>
          <p:cNvPr id="13" name="gate 3"/>
          <p:cNvSpPr/>
          <p:nvPr/>
        </p:nvSpPr>
        <p:spPr>
          <a:xfrm>
            <a:off x="5056632" y="1691640"/>
            <a:ext cx="2057400" cy="2834640"/>
          </a:xfrm>
          <a:prstGeom prst="roundRect">
            <a:avLst>
              <a:gd name="adj" fmla="val 3556"/>
            </a:avLst>
          </a:prstGeom>
          <a:solidFill>
            <a:schemeClr val="tx2"/>
          </a:solidFill>
          <a:ln w="12700">
            <a:solidFill>
              <a:schemeClr val="tx2"/>
            </a:solidFill>
            <a:prstDash val="solid"/>
          </a:ln>
        </p:spPr>
      </p:sp>
      <p:sp>
        <p:nvSpPr>
          <p:cNvPr id="14" name="Text 11"/>
          <p:cNvSpPr txBox="1"/>
          <p:nvPr/>
        </p:nvSpPr>
        <p:spPr>
          <a:xfrm>
            <a:off x="5257800" y="1828800"/>
            <a:ext cx="914400" cy="731520"/>
          </a:xfrm>
          <a:prstGeom prst="rect">
            <a:avLst/>
          </a:prstGeom>
          <a:noFill/>
          <a:ln/>
        </p:spPr>
        <p:txBody>
          <a:bodyPr wrap="square" lIns="0" tIns="0" rIns="0" bIns="0" rtlCol="0" anchor="ctr"/>
          <a:lstStyle/>
          <a:p>
            <a:pPr indent="0" marL="0">
              <a:buNone/>
            </a:pPr>
            <a:r>
              <a:rPr lang="en-US" sz="3600" b="1" dirty="0">
                <a:solidFill>
                  <a:schemeClr val="accent4"/>
                </a:solidFill>
              </a:rPr>
              <a:t>3</a:t>
            </a:r>
            <a:endParaRPr lang="en-US" sz="3600" dirty="0"/>
          </a:p>
        </p:txBody>
      </p:sp>
      <p:sp>
        <p:nvSpPr>
          <p:cNvPr id="15" name="Text 12"/>
          <p:cNvSpPr txBox="1"/>
          <p:nvPr/>
        </p:nvSpPr>
        <p:spPr>
          <a:xfrm>
            <a:off x="5257800" y="2606040"/>
            <a:ext cx="1691640" cy="457200"/>
          </a:xfrm>
          <a:prstGeom prst="rect">
            <a:avLst/>
          </a:prstGeom>
          <a:noFill/>
          <a:ln/>
        </p:spPr>
        <p:txBody>
          <a:bodyPr wrap="square" lIns="0" tIns="0" rIns="0" bIns="0" rtlCol="0" anchor="ctr"/>
          <a:lstStyle/>
          <a:p>
            <a:pPr indent="0" marL="0">
              <a:buNone/>
            </a:pPr>
            <a:r>
              <a:rPr lang="en-US" sz="1800" b="1" dirty="0">
                <a:solidFill>
                  <a:schemeClr val="bg1"/>
                </a:solidFill>
              </a:rPr>
              <a:t>B0~B4 비교</a:t>
            </a:r>
            <a:endParaRPr lang="en-US" sz="1800" dirty="0"/>
          </a:p>
        </p:txBody>
      </p:sp>
      <p:sp>
        <p:nvSpPr>
          <p:cNvPr id="16" name="Text 13"/>
          <p:cNvSpPr txBox="1"/>
          <p:nvPr/>
        </p:nvSpPr>
        <p:spPr>
          <a:xfrm>
            <a:off x="5257800" y="3108960"/>
            <a:ext cx="1691640" cy="1280160"/>
          </a:xfrm>
          <a:prstGeom prst="rect">
            <a:avLst/>
          </a:prstGeom>
          <a:noFill/>
          <a:ln/>
        </p:spPr>
        <p:txBody>
          <a:bodyPr wrap="square" lIns="0" tIns="0" rIns="0" bIns="0" rtlCol="0" anchor="t"/>
          <a:lstStyle/>
          <a:p>
            <a:pPr indent="0" marL="0">
              <a:buNone/>
            </a:pPr>
            <a:r>
              <a:rPr lang="en-US" sz="1400" dirty="0">
                <a:solidFill>
                  <a:srgbClr val="BFD0E0"/>
                </a:solidFill>
              </a:rPr>
              <a:t>같은 사례에서 조건별 일치율</a:t>
            </a:r>
            <a:endParaRPr lang="en-US" sz="1400" dirty="0"/>
          </a:p>
        </p:txBody>
      </p:sp>
      <p:sp>
        <p:nvSpPr>
          <p:cNvPr id="17" name="gate 4"/>
          <p:cNvSpPr/>
          <p:nvPr/>
        </p:nvSpPr>
        <p:spPr>
          <a:xfrm>
            <a:off x="7310628" y="1691640"/>
            <a:ext cx="2057400" cy="2834640"/>
          </a:xfrm>
          <a:prstGeom prst="roundRect">
            <a:avLst>
              <a:gd name="adj" fmla="val 3556"/>
            </a:avLst>
          </a:prstGeom>
          <a:solidFill>
            <a:schemeClr val="bg2"/>
          </a:solidFill>
          <a:ln w="12700">
            <a:solidFill>
              <a:srgbClr val="9FB3C8"/>
            </a:solidFill>
            <a:prstDash val="solid"/>
          </a:ln>
        </p:spPr>
      </p:sp>
      <p:sp>
        <p:nvSpPr>
          <p:cNvPr id="18" name="Text 15"/>
          <p:cNvSpPr txBox="1"/>
          <p:nvPr/>
        </p:nvSpPr>
        <p:spPr>
          <a:xfrm>
            <a:off x="7511796" y="1828800"/>
            <a:ext cx="914400" cy="731520"/>
          </a:xfrm>
          <a:prstGeom prst="rect">
            <a:avLst/>
          </a:prstGeom>
          <a:noFill/>
          <a:ln/>
        </p:spPr>
        <p:txBody>
          <a:bodyPr wrap="square" lIns="0" tIns="0" rIns="0" bIns="0" rtlCol="0" anchor="ctr"/>
          <a:lstStyle/>
          <a:p>
            <a:pPr indent="0" marL="0">
              <a:buNone/>
            </a:pPr>
            <a:r>
              <a:rPr lang="en-US" sz="3600" b="1" dirty="0">
                <a:solidFill>
                  <a:schemeClr val="accent2"/>
                </a:solidFill>
              </a:rPr>
              <a:t>4</a:t>
            </a:r>
            <a:endParaRPr lang="en-US" sz="3600" dirty="0"/>
          </a:p>
        </p:txBody>
      </p:sp>
      <p:sp>
        <p:nvSpPr>
          <p:cNvPr id="19" name="Text 16"/>
          <p:cNvSpPr txBox="1"/>
          <p:nvPr/>
        </p:nvSpPr>
        <p:spPr>
          <a:xfrm>
            <a:off x="7511796" y="2606040"/>
            <a:ext cx="1691640" cy="457200"/>
          </a:xfrm>
          <a:prstGeom prst="rect">
            <a:avLst/>
          </a:prstGeom>
          <a:noFill/>
          <a:ln/>
        </p:spPr>
        <p:txBody>
          <a:bodyPr wrap="square" lIns="0" tIns="0" rIns="0" bIns="0" rtlCol="0" anchor="ctr"/>
          <a:lstStyle/>
          <a:p>
            <a:pPr indent="0" marL="0">
              <a:buNone/>
            </a:pPr>
            <a:r>
              <a:rPr lang="en-US" sz="1800" b="1" dirty="0">
                <a:solidFill>
                  <a:schemeClr val="tx2"/>
                </a:solidFill>
              </a:rPr>
              <a:t>독립 평가</a:t>
            </a:r>
            <a:endParaRPr lang="en-US" sz="1800" dirty="0"/>
          </a:p>
        </p:txBody>
      </p:sp>
      <p:sp>
        <p:nvSpPr>
          <p:cNvPr id="20" name="Text 17"/>
          <p:cNvSpPr txBox="1"/>
          <p:nvPr/>
        </p:nvSpPr>
        <p:spPr>
          <a:xfrm>
            <a:off x="7511796" y="3108960"/>
            <a:ext cx="1691640" cy="1280160"/>
          </a:xfrm>
          <a:prstGeom prst="rect">
            <a:avLst/>
          </a:prstGeom>
          <a:noFill/>
          <a:ln/>
        </p:spPr>
        <p:txBody>
          <a:bodyPr wrap="square" lIns="0" tIns="0" rIns="0" bIns="0" rtlCol="0" anchor="t"/>
          <a:lstStyle/>
          <a:p>
            <a:pPr indent="0" marL="0">
              <a:buNone/>
            </a:pPr>
            <a:r>
              <a:rPr lang="en-US" sz="1400" dirty="0">
                <a:solidFill>
                  <a:schemeClr val="tx1"/>
                </a:solidFill>
              </a:rPr>
              <a:t>블라인드 판정, 재검사, 라벨 검수</a:t>
            </a:r>
            <a:endParaRPr lang="en-US" sz="1400" dirty="0"/>
          </a:p>
        </p:txBody>
      </p:sp>
      <p:sp>
        <p:nvSpPr>
          <p:cNvPr id="21" name="gate 5"/>
          <p:cNvSpPr/>
          <p:nvPr/>
        </p:nvSpPr>
        <p:spPr>
          <a:xfrm>
            <a:off x="9564624" y="1691640"/>
            <a:ext cx="2057400" cy="2834640"/>
          </a:xfrm>
          <a:prstGeom prst="roundRect">
            <a:avLst>
              <a:gd name="adj" fmla="val 3556"/>
            </a:avLst>
          </a:prstGeom>
          <a:solidFill>
            <a:schemeClr val="bg2"/>
          </a:solidFill>
          <a:ln w="12700">
            <a:solidFill>
              <a:srgbClr val="9FB3C8"/>
            </a:solidFill>
            <a:prstDash val="solid"/>
          </a:ln>
        </p:spPr>
      </p:sp>
      <p:sp>
        <p:nvSpPr>
          <p:cNvPr id="22" name="Text 19"/>
          <p:cNvSpPr txBox="1"/>
          <p:nvPr/>
        </p:nvSpPr>
        <p:spPr>
          <a:xfrm>
            <a:off x="9765792" y="1828800"/>
            <a:ext cx="914400" cy="731520"/>
          </a:xfrm>
          <a:prstGeom prst="rect">
            <a:avLst/>
          </a:prstGeom>
          <a:noFill/>
          <a:ln/>
        </p:spPr>
        <p:txBody>
          <a:bodyPr wrap="square" lIns="0" tIns="0" rIns="0" bIns="0" rtlCol="0" anchor="ctr"/>
          <a:lstStyle/>
          <a:p>
            <a:pPr indent="0" marL="0">
              <a:buNone/>
            </a:pPr>
            <a:r>
              <a:rPr lang="en-US" sz="3600" b="1" dirty="0">
                <a:solidFill>
                  <a:schemeClr val="accent2"/>
                </a:solidFill>
              </a:rPr>
              <a:t>5</a:t>
            </a:r>
            <a:endParaRPr lang="en-US" sz="3600" dirty="0"/>
          </a:p>
        </p:txBody>
      </p:sp>
      <p:sp>
        <p:nvSpPr>
          <p:cNvPr id="23" name="Text 20"/>
          <p:cNvSpPr txBox="1"/>
          <p:nvPr/>
        </p:nvSpPr>
        <p:spPr>
          <a:xfrm>
            <a:off x="9765792" y="2606040"/>
            <a:ext cx="1691640" cy="457200"/>
          </a:xfrm>
          <a:prstGeom prst="rect">
            <a:avLst/>
          </a:prstGeom>
          <a:noFill/>
          <a:ln/>
        </p:spPr>
        <p:txBody>
          <a:bodyPr wrap="square" lIns="0" tIns="0" rIns="0" bIns="0" rtlCol="0" anchor="ctr"/>
          <a:lstStyle/>
          <a:p>
            <a:pPr indent="0" marL="0">
              <a:buNone/>
            </a:pPr>
            <a:r>
              <a:rPr lang="en-US" sz="1800" b="1" dirty="0">
                <a:solidFill>
                  <a:schemeClr val="tx2"/>
                </a:solidFill>
              </a:rPr>
              <a:t>재현성 패키지</a:t>
            </a:r>
            <a:endParaRPr lang="en-US" sz="1800" dirty="0"/>
          </a:p>
        </p:txBody>
      </p:sp>
      <p:sp>
        <p:nvSpPr>
          <p:cNvPr id="24" name="Text 21"/>
          <p:cNvSpPr txBox="1"/>
          <p:nvPr/>
        </p:nvSpPr>
        <p:spPr>
          <a:xfrm>
            <a:off x="9765792" y="3108960"/>
            <a:ext cx="1691640" cy="1280160"/>
          </a:xfrm>
          <a:prstGeom prst="rect">
            <a:avLst/>
          </a:prstGeom>
          <a:noFill/>
          <a:ln/>
        </p:spPr>
        <p:txBody>
          <a:bodyPr wrap="square" lIns="0" tIns="0" rIns="0" bIns="0" rtlCol="0" anchor="t"/>
          <a:lstStyle/>
          <a:p>
            <a:pPr indent="0" marL="0">
              <a:buNone/>
            </a:pPr>
            <a:r>
              <a:rPr lang="en-US" sz="1400" dirty="0">
                <a:solidFill>
                  <a:schemeClr val="tx1"/>
                </a:solidFill>
              </a:rPr>
              <a:t>코드·분할 규칙·실패 사례 공개</a:t>
            </a:r>
            <a:endParaRPr lang="en-US" sz="1400" dirty="0"/>
          </a:p>
        </p:txBody>
      </p:sp>
      <p:sp>
        <p:nvSpPr>
          <p:cNvPr id="25" name="Text 22"/>
          <p:cNvSpPr txBox="1"/>
          <p:nvPr/>
        </p:nvSpPr>
        <p:spPr>
          <a:xfrm>
            <a:off x="548640" y="4846320"/>
            <a:ext cx="11091672" cy="822960"/>
          </a:xfrm>
          <a:prstGeom prst="rect">
            <a:avLst/>
          </a:prstGeom>
          <a:noFill/>
          <a:ln/>
        </p:spPr>
        <p:txBody>
          <a:bodyPr wrap="square" lIns="0" tIns="0" rIns="0" bIns="0" rtlCol="0" anchor="t"/>
          <a:lstStyle/>
          <a:p>
            <a:pPr indent="0" marL="0">
              <a:lnSpc>
                <a:spcPct val="120000"/>
              </a:lnSpc>
              <a:buNone/>
            </a:pPr>
            <a:r>
              <a:rPr lang="en-US" sz="1600" dirty="0">
                <a:solidFill>
                  <a:schemeClr val="tx1"/>
                </a:solidFill>
              </a:rPr>
              <a:t>짙은 상자 1~3이 최소 실증 요건. 그 전까지는 결과 논문이 아니라 </a:t>
            </a:r>
            <a:pPr indent="0" marL="0">
              <a:lnSpc>
                <a:spcPct val="120000"/>
              </a:lnSpc>
              <a:buNone/>
            </a:pPr>
            <a:r>
              <a:rPr lang="en-US" sz="1600" b="1" dirty="0">
                <a:solidFill>
                  <a:schemeClr val="tx2"/>
                </a:solidFill>
              </a:rPr>
              <a:t>사전 등록 가능한 연구 설계</a:t>
            </a:r>
            <a:pPr indent="0" marL="0">
              <a:lnSpc>
                <a:spcPct val="120000"/>
              </a:lnSpc>
              <a:buNone/>
            </a:pPr>
            <a:r>
              <a:rPr lang="en-US" sz="1600" dirty="0">
                <a:solidFill>
                  <a:schemeClr val="tx1"/>
                </a:solidFill>
              </a:rPr>
              <a:t>로 제시한다. 병행: 필요성 인터뷰 5~10명.</a:t>
            </a:r>
            <a:endParaRPr lang="en-US" sz="1600" dirty="0"/>
          </a:p>
        </p:txBody>
      </p:sp>
      <p:sp>
        <p:nvSpPr>
          <p:cNvPr id="25" name="Slide Number Placeholder 0"/>
          <p:cNvSpPr>
            <a:spLocks noGrp="1"/>
          </p:cNvSpPr>
          <p:nvPr>
            <p:ph type="sldNum" sz="quarter" idx="4294967295"/>
          </p:nvPr>
        </p:nvSpPr>
        <p:spPr>
          <a:xfrm>
            <a:off x="11155680" y="6382512"/>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65760"/>
          </a:xfrm>
          <a:prstGeom prst="rect">
            <a:avLst/>
          </a:prstGeom>
          <a:noFill/>
          <a:ln/>
        </p:spPr>
        <p:txBody>
          <a:bodyPr wrap="square" lIns="0" tIns="0" rIns="0" bIns="0" rtlCol="0"/>
          <a:lstStyle/>
          <a:p>
            <a:pPr indent="0" marL="0">
              <a:buNone/>
            </a:pPr>
            <a:r>
              <a:rPr lang="en-US" sz="1400" b="1" spc="300" kern="0" dirty="0">
                <a:solidFill>
                  <a:schemeClr val="accent4"/>
                </a:solidFill>
              </a:rPr>
              <a:t>정리</a:t>
            </a:r>
            <a:endParaRPr lang="en-US" sz="1400" dirty="0"/>
          </a:p>
        </p:txBody>
      </p:sp>
      <p:sp>
        <p:nvSpPr>
          <p:cNvPr id="3" name="Text 0"/>
          <p:cNvSpPr/>
          <p:nvPr>
            <p:ph idx="101" type="title" hasCustomPrompt="1"/>
          </p:nvPr>
        </p:nvSpPr>
        <p:spPr>
          <a:xfrm>
            <a:off x="548640" y="1828800"/>
            <a:ext cx="10515600" cy="1737360"/>
          </a:xfrm>
          <a:prstGeom prst="rect">
            <a:avLst/>
          </a:prstGeom>
          <a:noFill/>
          <a:ln/>
        </p:spPr>
        <p:txBody>
          <a:bodyPr wrap="square" lIns="0" tIns="0" rIns="0" bIns="0" rtlCol="0" anchor="b"/>
          <a:lstStyle/>
          <a:p>
            <a:pPr algn="l" indent="0" marL="0">
              <a:buNone/>
            </a:pPr>
            <a:r>
              <a:rPr lang="en-US" sz="4400" b="1" dirty="0">
                <a:solidFill>
                  <a:schemeClr val="bg1"/>
                </a:solidFill>
              </a:rPr>
              <a:t>판단 대리 아바타는</a:t>
            </a:r>
            <a:endParaRPr lang="en-US" sz="4400" dirty="0"/>
          </a:p>
          <a:p>
            <a:pPr algn="l" indent="0" marL="0">
              <a:buNone/>
            </a:pPr>
            <a:r>
              <a:rPr lang="en-US" sz="4400" b="1" dirty="0">
                <a:solidFill>
                  <a:schemeClr val="bg1"/>
                </a:solidFill>
              </a:rPr>
              <a:t>보류한 내 판단으로 평가해야 한다</a:t>
            </a:r>
            <a:endParaRPr lang="en-US" sz="4400" dirty="0"/>
          </a:p>
        </p:txBody>
      </p:sp>
      <p:sp>
        <p:nvSpPr>
          <p:cNvPr id="5" name="Text 0"/>
          <p:cNvSpPr/>
          <p:nvPr>
            <p:ph idx="102" type="body" hasCustomPrompt="1"/>
          </p:nvPr>
        </p:nvSpPr>
        <p:spPr>
          <a:xfrm>
            <a:off x="548640" y="3703320"/>
            <a:ext cx="10515600" cy="640080"/>
          </a:xfrm>
          <a:prstGeom prst="rect">
            <a:avLst/>
          </a:prstGeom>
          <a:noFill/>
          <a:ln/>
        </p:spPr>
        <p:txBody>
          <a:bodyPr wrap="square" lIns="0" tIns="0" rIns="0" bIns="0" rtlCol="0"/>
          <a:lstStyle/>
          <a:p>
            <a:pPr indent="0" marL="0">
              <a:buNone/>
            </a:pPr>
            <a:r>
              <a:rPr lang="en-US" sz="2200" dirty="0">
                <a:solidFill>
                  <a:schemeClr val="bg2"/>
                </a:solidFill>
              </a:rPr>
              <a:t>준비도·연결·일치를 나눠 보고하고, 판단 정책 + 이양을 대리의 단위로 삼고,</a:t>
            </a:r>
            <a:endParaRPr lang="en-US" sz="2200" dirty="0"/>
          </a:p>
          <a:p>
            <a:pPr indent="0" marL="0">
              <a:buNone/>
            </a:pPr>
            <a:r>
              <a:rPr lang="en-US" sz="2200" dirty="0">
                <a:solidFill>
                  <a:schemeClr val="bg2"/>
                </a:solidFill>
              </a:rPr>
              <a:t>일반 LLM 대비 증분만을 기여로 말한다</a:t>
            </a:r>
            <a:endParaRPr lang="en-US" sz="2200" dirty="0"/>
          </a:p>
        </p:txBody>
      </p:sp>
      <p:sp>
        <p:nvSpPr>
          <p:cNvPr id="6" name="Text 3"/>
          <p:cNvSpPr txBox="1"/>
          <p:nvPr/>
        </p:nvSpPr>
        <p:spPr>
          <a:xfrm>
            <a:off x="548640" y="5303520"/>
            <a:ext cx="7315200" cy="640080"/>
          </a:xfrm>
          <a:prstGeom prst="rect">
            <a:avLst/>
          </a:prstGeom>
          <a:noFill/>
          <a:ln/>
        </p:spPr>
        <p:txBody>
          <a:bodyPr wrap="square" lIns="0" tIns="0" rIns="0" bIns="0" rtlCol="0" anchor="ctr"/>
          <a:lstStyle/>
          <a:p>
            <a:pPr indent="0" marL="0">
              <a:buNone/>
            </a:pPr>
            <a:r>
              <a:rPr lang="en-US" sz="2800" b="1" dirty="0">
                <a:solidFill>
                  <a:schemeClr val="accent4"/>
                </a:solidFill>
              </a:rPr>
              <a:t>질문과 의견을 부탁드립니다</a:t>
            </a:r>
            <a:endParaRPr lang="en-US" sz="2800" dirty="0"/>
          </a:p>
        </p:txBody>
      </p:sp>
      <p:sp>
        <p:nvSpPr>
          <p:cNvPr id="7" name="Text 4"/>
          <p:cNvSpPr txBox="1"/>
          <p:nvPr/>
        </p:nvSpPr>
        <p:spPr>
          <a:xfrm>
            <a:off x="7982712" y="5486400"/>
            <a:ext cx="3657600" cy="365760"/>
          </a:xfrm>
          <a:prstGeom prst="rect">
            <a:avLst/>
          </a:prstGeom>
          <a:noFill/>
          <a:ln/>
        </p:spPr>
        <p:txBody>
          <a:bodyPr wrap="square" lIns="0" tIns="0" rIns="0" bIns="0" rtlCol="0" anchor="ctr"/>
          <a:lstStyle/>
          <a:p>
            <a:pPr algn="r" indent="0" marL="0">
              <a:buNone/>
            </a:pPr>
            <a:r>
              <a:rPr lang="en-US" sz="1400" dirty="0">
                <a:solidFill>
                  <a:srgbClr val="A9BBCC"/>
                </a:solidFill>
              </a:rPr>
              <a:t>허진구 · Mental Avatar 프로젝트</a:t>
            </a:r>
            <a:endParaRPr lang="en-US" sz="1400" dirty="0"/>
          </a:p>
        </p:txBody>
      </p:sp>
    </p:spTree>
  </p:cSld>
  <p:clrMapOvr>
    <a:masterClrMapping/>
  </p:clrMapOvr>
</p:sld>
</file>

<file path=ppt/theme/theme1.xml><?xml version="1.0" encoding="utf-8"?>
<a:theme xmlns:a="http://schemas.openxmlformats.org/drawingml/2006/main" name="Judgment Avatar">
  <a:themeElements>
    <a:clrScheme name="Judgment Avatar">
      <a:dk1>
        <a:srgbClr val="1F2A37"/>
      </a:dk1>
      <a:lt1>
        <a:srgbClr val="FFFFFF"/>
      </a:lt1>
      <a:dk2>
        <a:srgbClr val="14263B"/>
      </a:dk2>
      <a:lt2>
        <a:srgbClr val="EEF2F6"/>
      </a:lt2>
      <a:accent1>
        <a:srgbClr val="C98A12"/>
      </a:accent1>
      <a:accent2>
        <a:srgbClr val="2F6FA6"/>
      </a:accent2>
      <a:accent3>
        <a:srgbClr val="1F4E79"/>
      </a:accent3>
      <a:accent4>
        <a:srgbClr val="D9A441"/>
      </a:accent4>
      <a:accent5>
        <a:srgbClr val="B5442E"/>
      </a:accent5>
      <a:accent6>
        <a:srgbClr val="6B7785"/>
      </a:accent6>
      <a:hlink>
        <a:srgbClr val="2F6FA6"/>
      </a:hlink>
      <a:folHlink>
        <a:srgbClr val="6D4C9A"/>
      </a:folHlink>
    </a:clrScheme>
    <a:fontScheme name="Judgment Avatar">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나를 대신해 판단하는 아바타</dc:title>
  <dc:subject>판단 대리 아바타 연구 설계 발표</dc:subject>
  <dc:creator>허진구 (Jingu Heo)</dc:creator>
  <cp:lastModifiedBy>허진구 (Jingu Heo)</cp:lastModifiedBy>
  <cp:revision>1</cp:revision>
  <dcterms:created xsi:type="dcterms:W3CDTF">2026-10-19T12:51:51Z</dcterms:created>
  <dcterms:modified xsi:type="dcterms:W3CDTF">2026-10-19T12:51:51Z</dcterms:modified>
</cp:coreProperties>
</file>